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research</a:t>
            </a:r>
            <a:r>
              <a:rPr lang="en-US"/>
              <a:t> driven by </a:t>
            </a:r>
            <a:r>
              <a:rPr lang="en-US"/>
              <a:t>fundamental</a:t>
            </a:r>
            <a:r>
              <a:rPr lang="en-US"/>
              <a:t> question does living in an expensive city actually make you wealthier?</a:t>
            </a:r>
            <a:endParaRPr/>
          </a:p>
          <a:p>
            <a:pPr indent="0" lvl="0" marL="0" rtl="0" algn="l">
              <a:spcBef>
                <a:spcPts val="0"/>
              </a:spcBef>
              <a:spcAft>
                <a:spcPts val="0"/>
              </a:spcAft>
              <a:buNone/>
            </a:pPr>
            <a:r>
              <a:t/>
            </a:r>
            <a:endParaRPr/>
          </a:p>
          <a:p>
            <a:pPr indent="-304800" lvl="0" marL="457200" rtl="0" algn="l">
              <a:spcBef>
                <a:spcPts val="0"/>
              </a:spcBef>
              <a:spcAft>
                <a:spcPts val="0"/>
              </a:spcAft>
              <a:buSzPts val="1200"/>
              <a:buFont typeface="Calibri"/>
              <a:buChar char="-"/>
            </a:pPr>
            <a:r>
              <a:rPr lang="en-US"/>
              <a:t>First, do higher living costs lead to higher nominal wages? .</a:t>
            </a:r>
            <a:endParaRPr/>
          </a:p>
          <a:p>
            <a:pPr indent="-304800" lvl="1" marL="914400" rtl="0" algn="l">
              <a:spcBef>
                <a:spcPts val="0"/>
              </a:spcBef>
              <a:spcAft>
                <a:spcPts val="0"/>
              </a:spcAft>
              <a:buSzPts val="1200"/>
              <a:buFont typeface="Calibri"/>
              <a:buChar char="-"/>
            </a:pPr>
            <a:r>
              <a:rPr lang="en-US"/>
              <a:t>pulled Median Household Income from the Census as my measurement. Then I used the BEA's Regional Price Parity index to build the Real Purchasing Power, which decreases the nominal income by local costs. </a:t>
            </a:r>
            <a:endParaRPr/>
          </a:p>
          <a:p>
            <a:pPr indent="0" lvl="0" marL="0" rtl="0" algn="l">
              <a:spcBef>
                <a:spcPts val="0"/>
              </a:spcBef>
              <a:spcAft>
                <a:spcPts val="0"/>
              </a:spcAft>
              <a:buNone/>
            </a:pPr>
            <a:r>
              <a:t/>
            </a:r>
            <a:endParaRPr/>
          </a:p>
          <a:p>
            <a:pPr indent="-304800" lvl="0" marL="457200" rtl="0" algn="l">
              <a:spcBef>
                <a:spcPts val="0"/>
              </a:spcBef>
              <a:spcAft>
                <a:spcPts val="0"/>
              </a:spcAft>
              <a:buSzPts val="1200"/>
              <a:buFont typeface="Calibri"/>
              <a:buChar char="-"/>
            </a:pPr>
            <a:r>
              <a:rPr lang="en-US"/>
              <a:t>Second, I looked at city size. Does a bigger population directly mean higher pay?</a:t>
            </a:r>
            <a:endParaRPr/>
          </a:p>
          <a:p>
            <a:pPr indent="-304800" lvl="1" marL="914400" rtl="0" algn="l">
              <a:spcBef>
                <a:spcPts val="0"/>
              </a:spcBef>
              <a:spcAft>
                <a:spcPts val="0"/>
              </a:spcAft>
              <a:buSzPts val="1200"/>
              <a:buChar char="-"/>
            </a:pPr>
            <a:r>
              <a:rPr lang="en-US"/>
              <a:t>I brought in Population to test whether bigger cities simply pay more.</a:t>
            </a:r>
            <a:endParaRPr/>
          </a:p>
          <a:p>
            <a:pPr indent="0" lvl="0" marL="457200" rtl="0" algn="l">
              <a:spcBef>
                <a:spcPts val="0"/>
              </a:spcBef>
              <a:spcAft>
                <a:spcPts val="0"/>
              </a:spcAft>
              <a:buNone/>
            </a:pPr>
            <a:r>
              <a:t/>
            </a:r>
            <a:endParaRPr/>
          </a:p>
          <a:p>
            <a:pPr indent="-304800" lvl="0" marL="457200" rtl="0" algn="l">
              <a:spcBef>
                <a:spcPts val="0"/>
              </a:spcBef>
              <a:spcAft>
                <a:spcPts val="0"/>
              </a:spcAft>
              <a:buSzPts val="1200"/>
              <a:buFont typeface="Calibri"/>
              <a:buChar char="-"/>
            </a:pPr>
            <a:r>
              <a:rPr lang="en-US"/>
              <a:t>Finally, i looked at </a:t>
            </a:r>
            <a:r>
              <a:rPr lang="en-US"/>
              <a:t>whether</a:t>
            </a:r>
            <a:r>
              <a:rPr lang="en-US"/>
              <a:t> the big </a:t>
            </a:r>
            <a:r>
              <a:rPr lang="en-US"/>
              <a:t>city</a:t>
            </a:r>
            <a:r>
              <a:rPr lang="en-US"/>
              <a:t> pay boost is just a result of higher education levels</a:t>
            </a:r>
            <a:endParaRPr/>
          </a:p>
          <a:p>
            <a:pPr indent="-317500" lvl="1" marL="914400" rtl="0" algn="l">
              <a:spcBef>
                <a:spcPts val="0"/>
              </a:spcBef>
              <a:spcAft>
                <a:spcPts val="0"/>
              </a:spcAft>
              <a:buSzPts val="1400"/>
              <a:buChar char="-"/>
            </a:pPr>
            <a:r>
              <a:rPr lang="en-US"/>
              <a:t>The Education Rate shows how many people in a city have a bachelor's degree or higher. I added it to see if a city-size premium is actually just an education premium.</a:t>
            </a:r>
            <a:endParaRPr/>
          </a:p>
          <a:p>
            <a:pPr indent="0" lvl="0" marL="0" rtl="0" algn="l">
              <a:spcBef>
                <a:spcPts val="0"/>
              </a:spcBef>
              <a:spcAft>
                <a:spcPts val="0"/>
              </a:spcAft>
              <a:buNone/>
            </a:pPr>
            <a:r>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I pulled my data from two government APIs. I started with the BEA for price data. The documentation there was difficult to use because it was buried in nested pages. The step I took to figure it out was reading their developer manual to find that 'LineCode=1' was the only way to get the specific cost-of-living index I needed.</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US"/>
              <a:t>For the Census API, the challenge was figuring out the codes to collect. To do this, I went to the online Census variable dictionary. I used the lookup function to hunt down the specific codes for Bachelor's and Master's degrees. Once I found those exact IDs, I combined them into my Python URL to pull all the education data in one request</a:t>
            </a:r>
            <a:endParaRPr/>
          </a:p>
        </p:txBody>
      </p:sp>
      <p:sp>
        <p:nvSpPr>
          <p:cNvPr id="57" name="Google Shape;57;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0f66d3e88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0f66d3e88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 finish describing my data collection process, I had to combine the price data and the income data into one usable dataset.</a:t>
            </a:r>
            <a:endParaRPr/>
          </a:p>
          <a:p>
            <a:pPr indent="-317500" lvl="0" marL="457200" rtl="0" algn="l">
              <a:spcBef>
                <a:spcPts val="0"/>
              </a:spcBef>
              <a:spcAft>
                <a:spcPts val="0"/>
              </a:spcAft>
              <a:buSzPts val="1400"/>
              <a:buChar char="-"/>
            </a:pPr>
            <a:r>
              <a:rPr lang="en-US"/>
              <a:t>The major roadblock here was that the BEA and the Census spell city names differently. I tried to match them text-by-text using a row-by-row loop, which professor k said is inefficient</a:t>
            </a:r>
            <a:endParaRPr/>
          </a:p>
          <a:p>
            <a:pPr indent="-317500" lvl="0" marL="457200" rtl="0" algn="l">
              <a:spcBef>
                <a:spcPts val="0"/>
              </a:spcBef>
              <a:spcAft>
                <a:spcPts val="0"/>
              </a:spcAft>
              <a:buSzPts val="1400"/>
              <a:buChar char="-"/>
            </a:pPr>
            <a:r>
              <a:rPr lang="en-US"/>
              <a:t>To solve this, I searched through the data table structures and found that both tag their cities with a Federal GeoFips code, which acts like a unique ID for a metro area. As you can see in my code, I abandoned city names entirely and used Pandas to merge the datasets using that FIPS code. This single line of code instantly matched 379 cities</a:t>
            </a:r>
            <a:endParaRPr/>
          </a:p>
        </p:txBody>
      </p:sp>
      <p:sp>
        <p:nvSpPr>
          <p:cNvPr id="74" name="Google Shape;74;g3e0f66d3e88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couldn't answer my research questions with raw API data so I had to make three new variables.</a:t>
            </a:r>
            <a:endParaRPr/>
          </a:p>
          <a:p>
            <a:pPr indent="-317500" lvl="0" marL="457200" rtl="0" algn="l">
              <a:spcBef>
                <a:spcPts val="0"/>
              </a:spcBef>
              <a:spcAft>
                <a:spcPts val="0"/>
              </a:spcAft>
              <a:buSzPts val="1400"/>
              <a:buChar char="-"/>
            </a:pPr>
            <a:r>
              <a:rPr lang="en-US"/>
              <a:t>First, Real Purchasing Power. The Census gives nominal income,so I deflated it by the BEA's price index to create a standardized dollar — so all 379 cities are compared on equal footing</a:t>
            </a:r>
            <a:endParaRPr/>
          </a:p>
          <a:p>
            <a:pPr indent="-317500" lvl="0" marL="457200" rtl="0" algn="l">
              <a:spcBef>
                <a:spcPts val="0"/>
              </a:spcBef>
              <a:spcAft>
                <a:spcPts val="0"/>
              </a:spcAft>
              <a:buSzPts val="1400"/>
              <a:buChar char="-"/>
            </a:pPr>
            <a:r>
              <a:rPr lang="en-US"/>
              <a:t>Second, Education Rate. Instead of raw degree counts, I divided by population to get a density measure to test whether the big-city pay boost is really just a skill premium.</a:t>
            </a:r>
            <a:endParaRPr/>
          </a:p>
          <a:p>
            <a:pPr indent="-317500" lvl="0" marL="457200" rtl="0" algn="l">
              <a:spcBef>
                <a:spcPts val="0"/>
              </a:spcBef>
              <a:spcAft>
                <a:spcPts val="0"/>
              </a:spcAft>
              <a:buSzPts val="1400"/>
              <a:buChar char="-"/>
            </a:pPr>
            <a:r>
              <a:rPr lang="en-US"/>
              <a:t>I identified the 63 cities above the national RPP average with a 1, isolating expensive metropolitan areas in Regression 2 to see if the wage premium acts differently there.</a:t>
            </a:r>
            <a:endParaRPr/>
          </a:p>
        </p:txBody>
      </p:sp>
      <p:sp>
        <p:nvSpPr>
          <p:cNvPr id="91" name="Google Shape;9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scatterplot answers Research Question 2 (does moving to a bigger city mean a higher nominal pay?)</a:t>
            </a:r>
            <a:endParaRPr/>
          </a:p>
          <a:p>
            <a:pPr indent="-317500" lvl="0" marL="457200" rtl="0" algn="l">
              <a:spcBef>
                <a:spcPts val="0"/>
              </a:spcBef>
              <a:spcAft>
                <a:spcPts val="0"/>
              </a:spcAft>
              <a:buSzPts val="1400"/>
              <a:buChar char="-"/>
            </a:pPr>
            <a:r>
              <a:rPr lang="en-US"/>
              <a:t>The regression line does show a clear upward trend, from about $60,000 to $120,000, but the relationship is messy and unreliable. Notice how the confidence band flares out all the way to the right, which indicates high probability uncertainty as cities get bigger.</a:t>
            </a:r>
            <a:endParaRPr/>
          </a:p>
          <a:p>
            <a:pPr indent="-317500" lvl="0" marL="457200" rtl="0" algn="l">
              <a:spcBef>
                <a:spcPts val="0"/>
              </a:spcBef>
              <a:spcAft>
                <a:spcPts val="0"/>
              </a:spcAft>
              <a:buSzPts val="1400"/>
              <a:buChar char="-"/>
            </a:pPr>
            <a:r>
              <a:rPr lang="en-US"/>
              <a:t>The most interesting thing I found is the large vertical cluster on the far left. The top histogram shows that nearly all U.S. metros are clustered below 2.5 million people. But if you look at the vertical spread of those dots, their incomes range from $40,000 all the way up to more than $130,000. This chart shows you don't need to be a big city to have a six figure median income.</a:t>
            </a:r>
            <a:endParaRPr/>
          </a:p>
          <a:p>
            <a:pPr indent="-317500" lvl="0" marL="457200" rtl="0" algn="l">
              <a:spcBef>
                <a:spcPts val="0"/>
              </a:spcBef>
              <a:spcAft>
                <a:spcPts val="0"/>
              </a:spcAft>
              <a:buSzPts val="1400"/>
              <a:buChar char="-"/>
            </a:pPr>
            <a:r>
              <a:rPr lang="en-US"/>
              <a:t>And then finally over to the far right of the x-axis is one single dot that represents the 20 million people is the New York-Newark metro area. Yes, its nominal pay is high, but you can see that it is matched or exceeded by a lot of much smaller cities back on the left.</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jointplot answers Research Question 3 (does education explain real wealth)</a:t>
            </a:r>
            <a:endParaRPr/>
          </a:p>
          <a:p>
            <a:pPr indent="-317500" lvl="0" marL="457200" rtl="0" algn="l">
              <a:spcBef>
                <a:spcPts val="0"/>
              </a:spcBef>
              <a:spcAft>
                <a:spcPts val="0"/>
              </a:spcAft>
              <a:buSzPts val="1400"/>
              <a:buChar char="-"/>
            </a:pPr>
            <a:r>
              <a:rPr lang="en-US"/>
              <a:t>The regression line goes from about 55,000 in real purchasing power at the low end of education, up to 90,000 at the high end. That's a 35,000 swing just from education rate alone. The confidence band is tight, which tells you that this relationship holds for all 379 cities, not just a few outliers pulling the line.</a:t>
            </a:r>
            <a:endParaRPr/>
          </a:p>
          <a:p>
            <a:pPr indent="-317500" lvl="0" marL="457200" rtl="0" algn="l">
              <a:spcBef>
                <a:spcPts val="0"/>
              </a:spcBef>
              <a:spcAft>
                <a:spcPts val="0"/>
              </a:spcAft>
              <a:buSzPts val="1400"/>
              <a:buChar char="-"/>
            </a:pPr>
            <a:r>
              <a:rPr lang="en-US"/>
              <a:t>The most interesting thing I found was the top histogram. The vast majority of U.S. metropolitan areas are clustered on the left side of this chart, with between 10% and 25% with college degrees. </a:t>
            </a:r>
            <a:endParaRPr/>
          </a:p>
          <a:p>
            <a:pPr indent="0" lvl="0" marL="0" rtl="0" algn="l">
              <a:spcBef>
                <a:spcPts val="0"/>
              </a:spcBef>
              <a:spcAft>
                <a:spcPts val="0"/>
              </a:spcAft>
              <a:buNone/>
            </a:pPr>
            <a:r>
              <a:t/>
            </a:r>
            <a:endParaRPr/>
          </a:p>
        </p:txBody>
      </p:sp>
      <p:sp>
        <p:nvSpPr>
          <p:cNvPr id="136" name="Google Shape;136;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model I like best because it uses Real Purchasing Power to measure real </a:t>
            </a:r>
            <a:r>
              <a:rPr lang="en-US"/>
              <a:t>financial</a:t>
            </a:r>
            <a:r>
              <a:rPr lang="en-US"/>
              <a:t> stability instead of just looking at salaries and prices that seem high in some areas. </a:t>
            </a:r>
            <a:endParaRPr/>
          </a:p>
        </p:txBody>
      </p:sp>
      <p:sp>
        <p:nvSpPr>
          <p:cNvPr id="146" name="Google Shape;146;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e10c0bd422_19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e10c0bd422_19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e10c0bd422_19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3"/>
          <p:cNvSpPr/>
          <p:nvPr/>
        </p:nvSpPr>
        <p:spPr>
          <a:xfrm>
            <a:off x="-50" y="3758642"/>
            <a:ext cx="9144000" cy="92700"/>
          </a:xfrm>
          <a:prstGeom prst="rect">
            <a:avLst/>
          </a:prstGeom>
          <a:solidFill>
            <a:srgbClr val="F4A324"/>
          </a:solidFill>
          <a:ln cap="flat" cmpd="sng" w="12700">
            <a:solidFill>
              <a:srgbClr val="F4A3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548690" y="1362091"/>
            <a:ext cx="8046600" cy="192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The Impact of Prices, Population, and Education:</a:t>
            </a:r>
            <a:endParaRPr b="0" i="0" sz="2800" u="none" cap="none" strike="noStrike">
              <a:solidFill>
                <a:schemeClr val="dk1"/>
              </a:solidFill>
              <a:latin typeface="Calibri"/>
              <a:ea typeface="Calibri"/>
              <a:cs typeface="Calibri"/>
              <a:sym typeface="Calibri"/>
            </a:endParaRPr>
          </a:p>
          <a:p>
            <a:pPr indent="0" lvl="0" marL="0" rtl="0" algn="ctr">
              <a:spcBef>
                <a:spcPts val="0"/>
              </a:spcBef>
              <a:spcAft>
                <a:spcPts val="0"/>
              </a:spcAft>
              <a:buClr>
                <a:srgbClr val="F4A324"/>
              </a:buClr>
              <a:buSzPts val="1300"/>
              <a:buFont typeface="Calibri"/>
              <a:buNone/>
            </a:pPr>
            <a:r>
              <a:rPr lang="en-US" sz="1500">
                <a:solidFill>
                  <a:schemeClr val="lt1"/>
                </a:solidFill>
                <a:latin typeface="Calibri"/>
                <a:ea typeface="Calibri"/>
                <a:cs typeface="Calibri"/>
                <a:sym typeface="Calibri"/>
              </a:rPr>
              <a:t>How Real Purchasing Power differs from Nominal Income across 379 U.S. Metropolitan Areas</a:t>
            </a:r>
            <a:endParaRPr sz="1500">
              <a:solidFill>
                <a:schemeClr val="lt1"/>
              </a:solidFill>
              <a:latin typeface="Calibri"/>
              <a:ea typeface="Calibri"/>
              <a:cs typeface="Calibri"/>
              <a:sym typeface="Calibri"/>
            </a:endParaRPr>
          </a:p>
          <a:p>
            <a:pPr indent="0" lvl="0" marL="0" marR="0" rtl="0" algn="ctr">
              <a:spcBef>
                <a:spcPts val="0"/>
              </a:spcBef>
              <a:spcAft>
                <a:spcPts val="0"/>
              </a:spcAft>
              <a:buClr>
                <a:srgbClr val="FFFFFF"/>
              </a:buClr>
              <a:buSzPts val="2800"/>
              <a:buFont typeface="Calibri"/>
              <a:buNone/>
            </a:pPr>
            <a:r>
              <a:t/>
            </a:r>
            <a:endParaRPr b="1" sz="2800">
              <a:solidFill>
                <a:srgbClr val="FFFFFF"/>
              </a:solidFill>
              <a:latin typeface="Calibri"/>
              <a:ea typeface="Calibri"/>
              <a:cs typeface="Calibri"/>
              <a:sym typeface="Calibri"/>
            </a:endParaRPr>
          </a:p>
        </p:txBody>
      </p:sp>
      <p:sp>
        <p:nvSpPr>
          <p:cNvPr id="18" name="Google Shape;18;p3"/>
          <p:cNvSpPr/>
          <p:nvPr/>
        </p:nvSpPr>
        <p:spPr>
          <a:xfrm>
            <a:off x="548640" y="3291995"/>
            <a:ext cx="8046600" cy="61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6E4F7"/>
              </a:buClr>
              <a:buSzPts val="1100"/>
              <a:buFont typeface="Calibri"/>
              <a:buNone/>
            </a:pPr>
            <a:r>
              <a:rPr lang="en-US" sz="1100">
                <a:solidFill>
                  <a:srgbClr val="D6E4F7"/>
                </a:solidFill>
                <a:latin typeface="Calibri"/>
                <a:ea typeface="Calibri"/>
                <a:cs typeface="Calibri"/>
                <a:sym typeface="Calibri"/>
              </a:rPr>
              <a:t>Alex Criollo Torres | </a:t>
            </a:r>
            <a:r>
              <a:rPr b="0" i="0" lang="en-US" sz="1100" u="none" cap="none" strike="noStrike">
                <a:solidFill>
                  <a:srgbClr val="D6E4F7"/>
                </a:solidFill>
                <a:latin typeface="Calibri"/>
                <a:ea typeface="Calibri"/>
                <a:cs typeface="Calibri"/>
                <a:sym typeface="Calibri"/>
              </a:rPr>
              <a:t>ECO 590  |  BEA &amp; U.S. Census API  |   2021 ACS 5 Year Estimated Detailed Tables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C"/>
        </a:solidFill>
      </p:bgPr>
    </p:bg>
    <p:spTree>
      <p:nvGrpSpPr>
        <p:cNvPr id="23" name="Shape 23"/>
        <p:cNvGrpSpPr/>
        <p:nvPr/>
      </p:nvGrpSpPr>
      <p:grpSpPr>
        <a:xfrm>
          <a:off x="0" y="0"/>
          <a:ext cx="0" cy="0"/>
          <a:chOff x="0" y="0"/>
          <a:chExt cx="0" cy="0"/>
        </a:xfrm>
      </p:grpSpPr>
      <p:sp>
        <p:nvSpPr>
          <p:cNvPr id="24" name="Google Shape;24;p4"/>
          <p:cNvSpPr/>
          <p:nvPr/>
        </p:nvSpPr>
        <p:spPr>
          <a:xfrm>
            <a:off x="0" y="0"/>
            <a:ext cx="9144000" cy="65836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Research Questions &amp; Variables</a:t>
            </a:r>
            <a:endParaRPr b="0" i="0" sz="2000" u="none" cap="none" strike="noStrike">
              <a:solidFill>
                <a:schemeClr val="dk1"/>
              </a:solidFill>
              <a:latin typeface="Calibri"/>
              <a:ea typeface="Calibri"/>
              <a:cs typeface="Calibri"/>
              <a:sym typeface="Calibri"/>
            </a:endParaRPr>
          </a:p>
        </p:txBody>
      </p:sp>
      <p:sp>
        <p:nvSpPr>
          <p:cNvPr id="26" name="Google Shape;26;p4"/>
          <p:cNvSpPr/>
          <p:nvPr/>
        </p:nvSpPr>
        <p:spPr>
          <a:xfrm>
            <a:off x="274320" y="822997"/>
            <a:ext cx="5029200" cy="4023300"/>
          </a:xfrm>
          <a:prstGeom prst="rect">
            <a:avLst/>
          </a:prstGeom>
          <a:solidFill>
            <a:srgbClr val="FFFFFF"/>
          </a:solidFill>
          <a:ln cap="flat" cmpd="sng" w="12700">
            <a:solidFill>
              <a:srgbClr val="D6E4F7"/>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457200" y="868680"/>
            <a:ext cx="4663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Research Questions</a:t>
            </a:r>
            <a:endParaRPr b="0" i="0" sz="1300" u="none" cap="none" strike="noStrike">
              <a:solidFill>
                <a:schemeClr val="dk1"/>
              </a:solidFill>
              <a:latin typeface="Calibri"/>
              <a:ea typeface="Calibri"/>
              <a:cs typeface="Calibri"/>
              <a:sym typeface="Calibri"/>
            </a:endParaRPr>
          </a:p>
        </p:txBody>
      </p:sp>
      <p:sp>
        <p:nvSpPr>
          <p:cNvPr id="28" name="Google Shape;28;p4"/>
          <p:cNvSpPr/>
          <p:nvPr/>
        </p:nvSpPr>
        <p:spPr>
          <a:xfrm>
            <a:off x="411480" y="1298448"/>
            <a:ext cx="384048" cy="38404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411480" y="129844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Q1</a:t>
            </a:r>
            <a:endParaRPr b="0" i="0" sz="1100" u="none" cap="none" strike="noStrike">
              <a:solidFill>
                <a:schemeClr val="dk1"/>
              </a:solidFill>
              <a:latin typeface="Calibri"/>
              <a:ea typeface="Calibri"/>
              <a:cs typeface="Calibri"/>
              <a:sym typeface="Calibri"/>
            </a:endParaRPr>
          </a:p>
        </p:txBody>
      </p:sp>
      <p:sp>
        <p:nvSpPr>
          <p:cNvPr id="30" name="Google Shape;30;p4"/>
          <p:cNvSpPr/>
          <p:nvPr/>
        </p:nvSpPr>
        <p:spPr>
          <a:xfrm>
            <a:off x="914400" y="1261872"/>
            <a:ext cx="4206240" cy="51206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D3748"/>
              </a:buClr>
              <a:buSzPts val="1100"/>
              <a:buFont typeface="Calibri"/>
              <a:buNone/>
            </a:pPr>
            <a:r>
              <a:rPr b="0" i="0" lang="en-US" sz="1100" u="none" cap="none" strike="noStrike">
                <a:solidFill>
                  <a:srgbClr val="2D3748"/>
                </a:solidFill>
                <a:latin typeface="Calibri"/>
                <a:ea typeface="Calibri"/>
                <a:cs typeface="Calibri"/>
                <a:sym typeface="Calibri"/>
              </a:rPr>
              <a:t>Does the regional </a:t>
            </a:r>
            <a:r>
              <a:rPr b="0" i="0" lang="en-US" sz="1100" u="sng" cap="none" strike="noStrike">
                <a:solidFill>
                  <a:srgbClr val="2D3748"/>
                </a:solidFill>
                <a:latin typeface="Calibri"/>
                <a:ea typeface="Calibri"/>
                <a:cs typeface="Calibri"/>
                <a:sym typeface="Calibri"/>
              </a:rPr>
              <a:t>cost of living</a:t>
            </a:r>
            <a:r>
              <a:rPr b="0" i="0" lang="en-US" sz="1100" u="none" cap="none" strike="noStrike">
                <a:solidFill>
                  <a:srgbClr val="2D3748"/>
                </a:solidFill>
                <a:latin typeface="Calibri"/>
                <a:ea typeface="Calibri"/>
                <a:cs typeface="Calibri"/>
                <a:sym typeface="Calibri"/>
              </a:rPr>
              <a:t> (RPP) of a metropolitan area significantly affect its </a:t>
            </a:r>
            <a:r>
              <a:rPr b="0" i="0" lang="en-US" sz="1100" u="sng" cap="none" strike="noStrike">
                <a:solidFill>
                  <a:srgbClr val="2D3748"/>
                </a:solidFill>
                <a:latin typeface="Calibri"/>
                <a:ea typeface="Calibri"/>
                <a:cs typeface="Calibri"/>
                <a:sym typeface="Calibri"/>
              </a:rPr>
              <a:t>nominal median household income?</a:t>
            </a:r>
            <a:endParaRPr b="0" i="0" sz="1100" u="sng" cap="none" strike="noStrike">
              <a:solidFill>
                <a:srgbClr val="2D3748"/>
              </a:solidFill>
              <a:latin typeface="Calibri"/>
              <a:ea typeface="Calibri"/>
              <a:cs typeface="Calibri"/>
              <a:sym typeface="Calibri"/>
            </a:endParaRPr>
          </a:p>
          <a:p>
            <a:pPr indent="-292100" lvl="0" marL="457200" rtl="0" algn="l">
              <a:spcBef>
                <a:spcPts val="0"/>
              </a:spcBef>
              <a:spcAft>
                <a:spcPts val="0"/>
              </a:spcAft>
              <a:buClr>
                <a:srgbClr val="2D3748"/>
              </a:buClr>
              <a:buSzPts val="1000"/>
              <a:buFont typeface="Calibri"/>
              <a:buChar char="-"/>
            </a:pPr>
            <a:r>
              <a:rPr lang="en-US" sz="1100">
                <a:solidFill>
                  <a:schemeClr val="dk1"/>
                </a:solidFill>
                <a:latin typeface="Calibri"/>
                <a:ea typeface="Calibri"/>
                <a:cs typeface="Calibri"/>
                <a:sym typeface="Calibri"/>
              </a:rPr>
              <a:t>pulled Median Household Income from the Census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BEA's Regional Price Parity index to build the Real Purchasing Power</a:t>
            </a:r>
            <a:endParaRPr sz="1100">
              <a:solidFill>
                <a:schemeClr val="dk1"/>
              </a:solidFill>
              <a:latin typeface="Calibri"/>
              <a:ea typeface="Calibri"/>
              <a:cs typeface="Calibri"/>
              <a:sym typeface="Calibri"/>
            </a:endParaRPr>
          </a:p>
        </p:txBody>
      </p:sp>
      <p:sp>
        <p:nvSpPr>
          <p:cNvPr id="31" name="Google Shape;31;p4"/>
          <p:cNvSpPr/>
          <p:nvPr/>
        </p:nvSpPr>
        <p:spPr>
          <a:xfrm>
            <a:off x="411480" y="2395728"/>
            <a:ext cx="384048" cy="38404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411480" y="23957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Q2</a:t>
            </a:r>
            <a:endParaRPr b="0" i="0" sz="1100" u="none" cap="none" strike="noStrike">
              <a:solidFill>
                <a:schemeClr val="dk1"/>
              </a:solidFill>
              <a:latin typeface="Calibri"/>
              <a:ea typeface="Calibri"/>
              <a:cs typeface="Calibri"/>
              <a:sym typeface="Calibri"/>
            </a:endParaRPr>
          </a:p>
        </p:txBody>
      </p:sp>
      <p:sp>
        <p:nvSpPr>
          <p:cNvPr id="33" name="Google Shape;33;p4"/>
          <p:cNvSpPr/>
          <p:nvPr/>
        </p:nvSpPr>
        <p:spPr>
          <a:xfrm>
            <a:off x="914400" y="2359152"/>
            <a:ext cx="4206240" cy="51206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D3748"/>
              </a:buClr>
              <a:buSzPts val="1100"/>
              <a:buFont typeface="Calibri"/>
              <a:buNone/>
            </a:pPr>
            <a:r>
              <a:rPr lang="en-US" sz="1100">
                <a:solidFill>
                  <a:srgbClr val="2D3748"/>
                </a:solidFill>
                <a:latin typeface="Calibri"/>
                <a:ea typeface="Calibri"/>
                <a:cs typeface="Calibri"/>
                <a:sym typeface="Calibri"/>
              </a:rPr>
              <a:t>How does </a:t>
            </a:r>
            <a:r>
              <a:rPr lang="en-US" sz="1100" u="sng">
                <a:solidFill>
                  <a:srgbClr val="2D3748"/>
                </a:solidFill>
                <a:latin typeface="Calibri"/>
                <a:ea typeface="Calibri"/>
                <a:cs typeface="Calibri"/>
                <a:sym typeface="Calibri"/>
              </a:rPr>
              <a:t>city size </a:t>
            </a:r>
            <a:r>
              <a:rPr lang="en-US" sz="1100">
                <a:solidFill>
                  <a:srgbClr val="2D3748"/>
                </a:solidFill>
                <a:latin typeface="Calibri"/>
                <a:ea typeface="Calibri"/>
                <a:cs typeface="Calibri"/>
                <a:sym typeface="Calibri"/>
              </a:rPr>
              <a:t>(population) affect the</a:t>
            </a:r>
            <a:r>
              <a:rPr lang="en-US" sz="1100" u="sng">
                <a:solidFill>
                  <a:srgbClr val="2D3748"/>
                </a:solidFill>
                <a:latin typeface="Calibri"/>
                <a:ea typeface="Calibri"/>
                <a:cs typeface="Calibri"/>
                <a:sym typeface="Calibri"/>
              </a:rPr>
              <a:t> nominal wages </a:t>
            </a:r>
            <a:r>
              <a:rPr lang="en-US" sz="1100">
                <a:solidFill>
                  <a:srgbClr val="2D3748"/>
                </a:solidFill>
                <a:latin typeface="Calibri"/>
                <a:ea typeface="Calibri"/>
                <a:cs typeface="Calibri"/>
                <a:sym typeface="Calibri"/>
              </a:rPr>
              <a:t>of a region? How will the regional price parity change the median household income if population and level of education stay the same?</a:t>
            </a:r>
            <a:endParaRPr sz="1100">
              <a:solidFill>
                <a:srgbClr val="2D3748"/>
              </a:solidFill>
              <a:latin typeface="Calibri"/>
              <a:ea typeface="Calibri"/>
              <a:cs typeface="Calibri"/>
              <a:sym typeface="Calibri"/>
            </a:endParaRPr>
          </a:p>
          <a:p>
            <a:pPr indent="-292100" lvl="0" marL="457200" rtl="0" algn="l">
              <a:spcBef>
                <a:spcPts val="0"/>
              </a:spcBef>
              <a:spcAft>
                <a:spcPts val="0"/>
              </a:spcAft>
              <a:buClr>
                <a:srgbClr val="2D3748"/>
              </a:buClr>
              <a:buSzPts val="1000"/>
              <a:buFont typeface="Calibri"/>
              <a:buChar char="-"/>
            </a:pPr>
            <a:r>
              <a:rPr lang="en-US" sz="1100">
                <a:solidFill>
                  <a:schemeClr val="dk1"/>
                </a:solidFill>
                <a:latin typeface="Calibri"/>
                <a:ea typeface="Calibri"/>
                <a:cs typeface="Calibri"/>
                <a:sym typeface="Calibri"/>
              </a:rPr>
              <a:t>I brought in Population to test whether bigger cities simply pay more.</a:t>
            </a:r>
            <a:endParaRPr sz="1000">
              <a:solidFill>
                <a:srgbClr val="2D3748"/>
              </a:solidFill>
              <a:latin typeface="Calibri"/>
              <a:ea typeface="Calibri"/>
              <a:cs typeface="Calibri"/>
              <a:sym typeface="Calibri"/>
            </a:endParaRPr>
          </a:p>
        </p:txBody>
      </p:sp>
      <p:sp>
        <p:nvSpPr>
          <p:cNvPr id="34" name="Google Shape;34;p4"/>
          <p:cNvSpPr/>
          <p:nvPr/>
        </p:nvSpPr>
        <p:spPr>
          <a:xfrm>
            <a:off x="411480" y="3493008"/>
            <a:ext cx="384048" cy="38404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411480" y="34930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Q3</a:t>
            </a:r>
            <a:endParaRPr b="0" i="0" sz="1100" u="none" cap="none" strike="noStrike">
              <a:solidFill>
                <a:schemeClr val="dk1"/>
              </a:solidFill>
              <a:latin typeface="Calibri"/>
              <a:ea typeface="Calibri"/>
              <a:cs typeface="Calibri"/>
              <a:sym typeface="Calibri"/>
            </a:endParaRPr>
          </a:p>
        </p:txBody>
      </p:sp>
      <p:sp>
        <p:nvSpPr>
          <p:cNvPr id="36" name="Google Shape;36;p4"/>
          <p:cNvSpPr/>
          <p:nvPr/>
        </p:nvSpPr>
        <p:spPr>
          <a:xfrm>
            <a:off x="914400" y="3456432"/>
            <a:ext cx="4206240" cy="51206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D3748"/>
              </a:buClr>
              <a:buSzPts val="1100"/>
              <a:buFont typeface="Calibri"/>
              <a:buNone/>
            </a:pPr>
            <a:r>
              <a:rPr lang="en-US" sz="1100">
                <a:solidFill>
                  <a:srgbClr val="2D3748"/>
                </a:solidFill>
                <a:latin typeface="Calibri"/>
                <a:ea typeface="Calibri"/>
                <a:cs typeface="Calibri"/>
                <a:sym typeface="Calibri"/>
              </a:rPr>
              <a:t>Does the </a:t>
            </a:r>
            <a:r>
              <a:rPr lang="en-US" sz="1100" u="sng">
                <a:solidFill>
                  <a:srgbClr val="2D3748"/>
                </a:solidFill>
                <a:latin typeface="Calibri"/>
                <a:ea typeface="Calibri"/>
                <a:cs typeface="Calibri"/>
                <a:sym typeface="Calibri"/>
              </a:rPr>
              <a:t>big city pay premium</a:t>
            </a:r>
            <a:r>
              <a:rPr lang="en-US" sz="1100">
                <a:solidFill>
                  <a:srgbClr val="2D3748"/>
                </a:solidFill>
                <a:latin typeface="Calibri"/>
                <a:ea typeface="Calibri"/>
                <a:cs typeface="Calibri"/>
                <a:sym typeface="Calibri"/>
              </a:rPr>
              <a:t> remain if we take into account the amount of human capital (</a:t>
            </a:r>
            <a:r>
              <a:rPr lang="en-US" sz="1100" u="sng">
                <a:solidFill>
                  <a:srgbClr val="2D3748"/>
                </a:solidFill>
                <a:latin typeface="Calibri"/>
                <a:ea typeface="Calibri"/>
                <a:cs typeface="Calibri"/>
                <a:sym typeface="Calibri"/>
              </a:rPr>
              <a:t>educational attainment</a:t>
            </a:r>
            <a:r>
              <a:rPr lang="en-US" sz="1100">
                <a:solidFill>
                  <a:srgbClr val="2D3748"/>
                </a:solidFill>
                <a:latin typeface="Calibri"/>
                <a:ea typeface="Calibri"/>
                <a:cs typeface="Calibri"/>
                <a:sym typeface="Calibri"/>
              </a:rPr>
              <a:t>) in the workforce, or is the higher pay just because people who live in expensive areas tend to be more educated?</a:t>
            </a:r>
            <a:endParaRPr sz="1100">
              <a:solidFill>
                <a:srgbClr val="2D3748"/>
              </a:solidFill>
              <a:latin typeface="Calibri"/>
              <a:ea typeface="Calibri"/>
              <a:cs typeface="Calibri"/>
              <a:sym typeface="Calibri"/>
            </a:endParaRPr>
          </a:p>
          <a:p>
            <a:pPr indent="-317500" lvl="0" marL="457200" rtl="0" algn="l">
              <a:spcBef>
                <a:spcPts val="0"/>
              </a:spcBef>
              <a:spcAft>
                <a:spcPts val="0"/>
              </a:spcAft>
              <a:buClr>
                <a:schemeClr val="dk1"/>
              </a:buClr>
              <a:buSzPts val="1400"/>
              <a:buChar char="-"/>
            </a:pPr>
            <a:r>
              <a:rPr lang="en-US" sz="1200">
                <a:solidFill>
                  <a:schemeClr val="dk1"/>
                </a:solidFill>
                <a:latin typeface="Calibri"/>
                <a:ea typeface="Calibri"/>
                <a:cs typeface="Calibri"/>
                <a:sym typeface="Calibri"/>
              </a:rPr>
              <a:t>The Education Rate shows how many people in a city have a bachelor's degree or higher. I added it to see if a city-size premium is actually just an education premium.</a:t>
            </a:r>
            <a:endParaRPr sz="1100">
              <a:solidFill>
                <a:srgbClr val="2D3748"/>
              </a:solidFill>
              <a:latin typeface="Calibri"/>
              <a:ea typeface="Calibri"/>
              <a:cs typeface="Calibri"/>
              <a:sym typeface="Calibri"/>
            </a:endParaRPr>
          </a:p>
        </p:txBody>
      </p:sp>
      <p:sp>
        <p:nvSpPr>
          <p:cNvPr id="37" name="Google Shape;37;p4"/>
          <p:cNvSpPr/>
          <p:nvPr/>
        </p:nvSpPr>
        <p:spPr>
          <a:xfrm>
            <a:off x="5577840" y="822960"/>
            <a:ext cx="3291840" cy="4023360"/>
          </a:xfrm>
          <a:prstGeom prst="rect">
            <a:avLst/>
          </a:prstGeom>
          <a:solidFill>
            <a:srgbClr val="FFFFFF"/>
          </a:solidFill>
          <a:ln cap="flat" cmpd="sng" w="12700">
            <a:solidFill>
              <a:srgbClr val="D6E4F7"/>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5760720" y="868680"/>
            <a:ext cx="29260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Key Variables</a:t>
            </a:r>
            <a:endParaRPr b="0" i="0" sz="1300" u="none" cap="none" strike="noStrike">
              <a:solidFill>
                <a:schemeClr val="dk1"/>
              </a:solidFill>
              <a:latin typeface="Calibri"/>
              <a:ea typeface="Calibri"/>
              <a:cs typeface="Calibri"/>
              <a:sym typeface="Calibri"/>
            </a:endParaRPr>
          </a:p>
        </p:txBody>
      </p:sp>
      <p:sp>
        <p:nvSpPr>
          <p:cNvPr id="39" name="Google Shape;39;p4"/>
          <p:cNvSpPr/>
          <p:nvPr/>
        </p:nvSpPr>
        <p:spPr>
          <a:xfrm>
            <a:off x="5669280" y="1298448"/>
            <a:ext cx="54864" cy="50292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5833872" y="1298448"/>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950"/>
              <a:buFont typeface="Calibri"/>
              <a:buNone/>
            </a:pPr>
            <a:r>
              <a:rPr b="1" i="0" lang="en-US" sz="950" u="none" cap="none" strike="noStrike">
                <a:solidFill>
                  <a:srgbClr val="1E2761"/>
                </a:solidFill>
                <a:latin typeface="Calibri"/>
                <a:ea typeface="Calibri"/>
                <a:cs typeface="Calibri"/>
                <a:sym typeface="Calibri"/>
              </a:rPr>
              <a:t>Cost_Of_Living_RPP</a:t>
            </a:r>
            <a:endParaRPr b="0" i="0" sz="950" u="none" cap="none" strike="noStrike">
              <a:solidFill>
                <a:schemeClr val="dk1"/>
              </a:solidFill>
              <a:latin typeface="Calibri"/>
              <a:ea typeface="Calibri"/>
              <a:cs typeface="Calibri"/>
              <a:sym typeface="Calibri"/>
            </a:endParaRPr>
          </a:p>
        </p:txBody>
      </p:sp>
      <p:sp>
        <p:nvSpPr>
          <p:cNvPr id="41" name="Google Shape;41;p4"/>
          <p:cNvSpPr/>
          <p:nvPr/>
        </p:nvSpPr>
        <p:spPr>
          <a:xfrm>
            <a:off x="5833872" y="1517904"/>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BEA Regional Price Parity index (national avg = 100)</a:t>
            </a:r>
            <a:endParaRPr b="0" i="0" sz="900" u="none" cap="none" strike="noStrike">
              <a:solidFill>
                <a:schemeClr val="dk1"/>
              </a:solidFill>
              <a:latin typeface="Calibri"/>
              <a:ea typeface="Calibri"/>
              <a:cs typeface="Calibri"/>
              <a:sym typeface="Calibri"/>
            </a:endParaRPr>
          </a:p>
        </p:txBody>
      </p:sp>
      <p:sp>
        <p:nvSpPr>
          <p:cNvPr id="42" name="Google Shape;42;p4"/>
          <p:cNvSpPr/>
          <p:nvPr/>
        </p:nvSpPr>
        <p:spPr>
          <a:xfrm>
            <a:off x="5669280" y="1956816"/>
            <a:ext cx="54864" cy="502920"/>
          </a:xfrm>
          <a:prstGeom prst="rect">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5833872" y="1956816"/>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950"/>
              <a:buFont typeface="Calibri"/>
              <a:buNone/>
            </a:pPr>
            <a:r>
              <a:rPr b="1" i="0" lang="en-US" sz="950" u="none" cap="none" strike="noStrike">
                <a:solidFill>
                  <a:srgbClr val="1E2761"/>
                </a:solidFill>
                <a:latin typeface="Calibri"/>
                <a:ea typeface="Calibri"/>
                <a:cs typeface="Calibri"/>
                <a:sym typeface="Calibri"/>
              </a:rPr>
              <a:t>Median_Household_Income</a:t>
            </a:r>
            <a:endParaRPr b="0" i="0" sz="950" u="none" cap="none" strike="noStrike">
              <a:solidFill>
                <a:schemeClr val="dk1"/>
              </a:solidFill>
              <a:latin typeface="Calibri"/>
              <a:ea typeface="Calibri"/>
              <a:cs typeface="Calibri"/>
              <a:sym typeface="Calibri"/>
            </a:endParaRPr>
          </a:p>
        </p:txBody>
      </p:sp>
      <p:sp>
        <p:nvSpPr>
          <p:cNvPr id="44" name="Google Shape;44;p4"/>
          <p:cNvSpPr/>
          <p:nvPr/>
        </p:nvSpPr>
        <p:spPr>
          <a:xfrm>
            <a:off x="5833872" y="2176272"/>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Nominal income from U.S. Census ACS 5-year</a:t>
            </a:r>
            <a:endParaRPr b="0" i="0" sz="900" u="none" cap="none" strike="noStrike">
              <a:solidFill>
                <a:schemeClr val="dk1"/>
              </a:solidFill>
              <a:latin typeface="Calibri"/>
              <a:ea typeface="Calibri"/>
              <a:cs typeface="Calibri"/>
              <a:sym typeface="Calibri"/>
            </a:endParaRPr>
          </a:p>
        </p:txBody>
      </p:sp>
      <p:sp>
        <p:nvSpPr>
          <p:cNvPr id="45" name="Google Shape;45;p4"/>
          <p:cNvSpPr/>
          <p:nvPr/>
        </p:nvSpPr>
        <p:spPr>
          <a:xfrm>
            <a:off x="5669280" y="2615184"/>
            <a:ext cx="54864" cy="50292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5833872" y="2615184"/>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950"/>
              <a:buFont typeface="Calibri"/>
              <a:buNone/>
            </a:pPr>
            <a:r>
              <a:rPr b="1" i="0" lang="en-US" sz="950" u="none" cap="none" strike="noStrike">
                <a:solidFill>
                  <a:srgbClr val="1E2761"/>
                </a:solidFill>
                <a:latin typeface="Calibri"/>
                <a:ea typeface="Calibri"/>
                <a:cs typeface="Calibri"/>
                <a:sym typeface="Calibri"/>
              </a:rPr>
              <a:t>Real_Purchasing_Power</a:t>
            </a:r>
            <a:endParaRPr b="0" i="0" sz="950" u="none" cap="none" strike="noStrike">
              <a:solidFill>
                <a:schemeClr val="dk1"/>
              </a:solidFill>
              <a:latin typeface="Calibri"/>
              <a:ea typeface="Calibri"/>
              <a:cs typeface="Calibri"/>
              <a:sym typeface="Calibri"/>
            </a:endParaRPr>
          </a:p>
        </p:txBody>
      </p:sp>
      <p:sp>
        <p:nvSpPr>
          <p:cNvPr id="47" name="Google Shape;47;p4"/>
          <p:cNvSpPr/>
          <p:nvPr/>
        </p:nvSpPr>
        <p:spPr>
          <a:xfrm>
            <a:off x="5833872" y="283464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Income ÷ (RPP/100) — actual buying power</a:t>
            </a:r>
            <a:endParaRPr b="0" i="0" sz="900" u="none" cap="none" strike="noStrike">
              <a:solidFill>
                <a:schemeClr val="dk1"/>
              </a:solidFill>
              <a:latin typeface="Calibri"/>
              <a:ea typeface="Calibri"/>
              <a:cs typeface="Calibri"/>
              <a:sym typeface="Calibri"/>
            </a:endParaRPr>
          </a:p>
        </p:txBody>
      </p:sp>
      <p:sp>
        <p:nvSpPr>
          <p:cNvPr id="48" name="Google Shape;48;p4"/>
          <p:cNvSpPr/>
          <p:nvPr/>
        </p:nvSpPr>
        <p:spPr>
          <a:xfrm>
            <a:off x="5669280" y="3273552"/>
            <a:ext cx="54864" cy="502920"/>
          </a:xfrm>
          <a:prstGeom prst="rect">
            <a:avLst/>
          </a:prstGeom>
          <a:solidFill>
            <a:srgbClr val="1A7A4A"/>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5833872" y="3273552"/>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950"/>
              <a:buFont typeface="Calibri"/>
              <a:buNone/>
            </a:pPr>
            <a:r>
              <a:rPr b="1" i="0" lang="en-US" sz="950" u="none" cap="none" strike="noStrike">
                <a:solidFill>
                  <a:srgbClr val="1E2761"/>
                </a:solidFill>
                <a:latin typeface="Calibri"/>
                <a:ea typeface="Calibri"/>
                <a:cs typeface="Calibri"/>
                <a:sym typeface="Calibri"/>
              </a:rPr>
              <a:t>Education_Rate</a:t>
            </a:r>
            <a:endParaRPr b="0" i="0" sz="950" u="none" cap="none" strike="noStrike">
              <a:solidFill>
                <a:schemeClr val="dk1"/>
              </a:solidFill>
              <a:latin typeface="Calibri"/>
              <a:ea typeface="Calibri"/>
              <a:cs typeface="Calibri"/>
              <a:sym typeface="Calibri"/>
            </a:endParaRPr>
          </a:p>
        </p:txBody>
      </p:sp>
      <p:sp>
        <p:nvSpPr>
          <p:cNvPr id="50" name="Google Shape;50;p4"/>
          <p:cNvSpPr/>
          <p:nvPr/>
        </p:nvSpPr>
        <p:spPr>
          <a:xfrm>
            <a:off x="5833872" y="3493008"/>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Share of residents with a bachelor's degree or higher</a:t>
            </a:r>
            <a:endParaRPr b="0" i="0" sz="900" u="none" cap="none" strike="noStrike">
              <a:solidFill>
                <a:schemeClr val="dk1"/>
              </a:solidFill>
              <a:latin typeface="Calibri"/>
              <a:ea typeface="Calibri"/>
              <a:cs typeface="Calibri"/>
              <a:sym typeface="Calibri"/>
            </a:endParaRPr>
          </a:p>
        </p:txBody>
      </p:sp>
      <p:sp>
        <p:nvSpPr>
          <p:cNvPr id="51" name="Google Shape;51;p4"/>
          <p:cNvSpPr/>
          <p:nvPr/>
        </p:nvSpPr>
        <p:spPr>
          <a:xfrm>
            <a:off x="5669280" y="3931920"/>
            <a:ext cx="54864" cy="502920"/>
          </a:xfrm>
          <a:prstGeom prst="rect">
            <a:avLst/>
          </a:prstGeom>
          <a:solidFill>
            <a:srgbClr val="F4A324"/>
          </a:solidFill>
          <a:ln cap="flat" cmpd="sng" w="12700">
            <a:solidFill>
              <a:srgbClr val="F4A3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5833872" y="3931920"/>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950"/>
              <a:buFont typeface="Calibri"/>
              <a:buNone/>
            </a:pPr>
            <a:r>
              <a:rPr b="1" i="0" lang="en-US" sz="950" u="none" cap="none" strike="noStrike">
                <a:solidFill>
                  <a:srgbClr val="1E2761"/>
                </a:solidFill>
                <a:latin typeface="Calibri"/>
                <a:ea typeface="Calibri"/>
                <a:cs typeface="Calibri"/>
                <a:sym typeface="Calibri"/>
              </a:rPr>
              <a:t>Population</a:t>
            </a:r>
            <a:endParaRPr b="0" i="0" sz="950" u="none" cap="none" strike="noStrike">
              <a:solidFill>
                <a:schemeClr val="dk1"/>
              </a:solidFill>
              <a:latin typeface="Calibri"/>
              <a:ea typeface="Calibri"/>
              <a:cs typeface="Calibri"/>
              <a:sym typeface="Calibri"/>
            </a:endParaRPr>
          </a:p>
        </p:txBody>
      </p:sp>
      <p:sp>
        <p:nvSpPr>
          <p:cNvPr id="53" name="Google Shape;53;p4"/>
          <p:cNvSpPr/>
          <p:nvPr/>
        </p:nvSpPr>
        <p:spPr>
          <a:xfrm>
            <a:off x="5833872" y="4151376"/>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Total metro population (Census)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C"/>
        </a:solidFill>
      </p:bgPr>
    </p:bg>
    <p:spTree>
      <p:nvGrpSpPr>
        <p:cNvPr id="58" name="Shape 58"/>
        <p:cNvGrpSpPr/>
        <p:nvPr/>
      </p:nvGrpSpPr>
      <p:grpSpPr>
        <a:xfrm>
          <a:off x="0" y="0"/>
          <a:ext cx="0" cy="0"/>
          <a:chOff x="0" y="0"/>
          <a:chExt cx="0" cy="0"/>
        </a:xfrm>
      </p:grpSpPr>
      <p:sp>
        <p:nvSpPr>
          <p:cNvPr id="59" name="Google Shape;59;p5"/>
          <p:cNvSpPr/>
          <p:nvPr/>
        </p:nvSpPr>
        <p:spPr>
          <a:xfrm>
            <a:off x="0" y="0"/>
            <a:ext cx="9144000" cy="6585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5"/>
          <p:cNvPicPr preferRelativeResize="0"/>
          <p:nvPr/>
        </p:nvPicPr>
        <p:blipFill rotWithShape="1">
          <a:blip r:embed="rId3">
            <a:alphaModFix/>
          </a:blip>
          <a:srcRect b="0" l="-2260" r="0" t="0"/>
          <a:stretch/>
        </p:blipFill>
        <p:spPr>
          <a:xfrm>
            <a:off x="4383300" y="952500"/>
            <a:ext cx="4760700" cy="3619500"/>
          </a:xfrm>
          <a:prstGeom prst="rect">
            <a:avLst/>
          </a:prstGeom>
          <a:noFill/>
          <a:ln>
            <a:noFill/>
          </a:ln>
        </p:spPr>
      </p:pic>
      <p:sp>
        <p:nvSpPr>
          <p:cNvPr id="61" name="Google Shape;61;p5"/>
          <p:cNvSpPr/>
          <p:nvPr/>
        </p:nvSpPr>
        <p:spPr>
          <a:xfrm>
            <a:off x="320040" y="0"/>
            <a:ext cx="85038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Two Government APIs</a:t>
            </a:r>
            <a:endParaRPr b="0" i="0" sz="2000" u="none" cap="none" strike="noStrike">
              <a:solidFill>
                <a:schemeClr val="dk1"/>
              </a:solidFill>
              <a:latin typeface="Calibri"/>
              <a:ea typeface="Calibri"/>
              <a:cs typeface="Calibri"/>
              <a:sym typeface="Calibri"/>
            </a:endParaRPr>
          </a:p>
        </p:txBody>
      </p:sp>
      <p:grpSp>
        <p:nvGrpSpPr>
          <p:cNvPr id="62" name="Google Shape;62;p5"/>
          <p:cNvGrpSpPr/>
          <p:nvPr/>
        </p:nvGrpSpPr>
        <p:grpSpPr>
          <a:xfrm>
            <a:off x="320090" y="952500"/>
            <a:ext cx="3943200" cy="1828800"/>
            <a:chOff x="320040" y="952500"/>
            <a:chExt cx="3943200" cy="1828800"/>
          </a:xfrm>
        </p:grpSpPr>
        <p:sp>
          <p:nvSpPr>
            <p:cNvPr id="63" name="Google Shape;63;p5"/>
            <p:cNvSpPr/>
            <p:nvPr/>
          </p:nvSpPr>
          <p:spPr>
            <a:xfrm>
              <a:off x="320040" y="952500"/>
              <a:ext cx="3943200" cy="1714500"/>
            </a:xfrm>
            <a:prstGeom prst="roundRect">
              <a:avLst>
                <a:gd fmla="val 2222" name="adj"/>
              </a:avLst>
            </a:prstGeom>
            <a:solidFill>
              <a:srgbClr val="FFFFFF"/>
            </a:solidFill>
            <a:ln cap="flat" cmpd="sng" w="9525">
              <a:solidFill>
                <a:srgbClr val="D6E4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 name="Google Shape;64;p5"/>
            <p:cNvSpPr/>
            <p:nvPr/>
          </p:nvSpPr>
          <p:spPr>
            <a:xfrm>
              <a:off x="320040" y="952500"/>
              <a:ext cx="3943200" cy="38100"/>
            </a:xfrm>
            <a:prstGeom prst="rect">
              <a:avLst/>
            </a:prstGeom>
            <a:solidFill>
              <a:srgbClr val="1E276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5"/>
            <p:cNvSpPr txBox="1"/>
            <p:nvPr/>
          </p:nvSpPr>
          <p:spPr>
            <a:xfrm>
              <a:off x="457200" y="1066800"/>
              <a:ext cx="3676800" cy="1714500"/>
            </a:xfrm>
            <a:prstGeom prst="rect">
              <a:avLst/>
            </a:prstGeom>
            <a:noFill/>
            <a:ln>
              <a:noFill/>
            </a:ln>
          </p:spPr>
          <p:txBody>
            <a:bodyPr anchorCtr="0" anchor="t" bIns="0" lIns="0" spcFirstLastPara="1" rIns="0" wrap="square" tIns="0">
              <a:normAutofit lnSpcReduction="20000"/>
            </a:bodyPr>
            <a:lstStyle/>
            <a:p>
              <a:pPr indent="0" lvl="0" marL="0" rtl="0" algn="l">
                <a:spcBef>
                  <a:spcPts val="0"/>
                </a:spcBef>
                <a:spcAft>
                  <a:spcPts val="0"/>
                </a:spcAft>
                <a:buNone/>
              </a:pPr>
              <a:r>
                <a:rPr b="1" lang="en-US" sz="1400">
                  <a:solidFill>
                    <a:srgbClr val="1E2761"/>
                  </a:solidFill>
                  <a:latin typeface="Calibri"/>
                  <a:ea typeface="Calibri"/>
                  <a:cs typeface="Calibri"/>
                  <a:sym typeface="Calibri"/>
                </a:rPr>
                <a:t>Bureau of Economic Analysis (</a:t>
              </a:r>
              <a:r>
                <a:rPr b="1" lang="en-US" sz="1400">
                  <a:solidFill>
                    <a:srgbClr val="1E2761"/>
                  </a:solidFill>
                  <a:latin typeface="Calibri"/>
                  <a:ea typeface="Calibri"/>
                  <a:cs typeface="Calibri"/>
                  <a:sym typeface="Calibri"/>
                </a:rPr>
                <a:t>BEA) API </a:t>
              </a:r>
              <a:endParaRPr b="1" sz="1400">
                <a:solidFill>
                  <a:srgbClr val="1E2761"/>
                </a:solidFill>
                <a:latin typeface="Calibri"/>
                <a:ea typeface="Calibri"/>
                <a:cs typeface="Calibri"/>
                <a:sym typeface="Calibri"/>
              </a:endParaRPr>
            </a:p>
            <a:p>
              <a:pPr indent="0" lvl="0" marL="0" rtl="0" algn="l">
                <a:spcBef>
                  <a:spcPts val="0"/>
                </a:spcBef>
                <a:spcAft>
                  <a:spcPts val="0"/>
                </a:spcAft>
                <a:buNone/>
              </a:pPr>
              <a:r>
                <a:t/>
              </a:r>
              <a:endParaRPr b="1" sz="1400">
                <a:solidFill>
                  <a:srgbClr val="1E2761"/>
                </a:solidFill>
                <a:latin typeface="Calibri"/>
                <a:ea typeface="Calibri"/>
                <a:cs typeface="Calibri"/>
                <a:sym typeface="Calibri"/>
              </a:endParaRPr>
            </a:p>
            <a:p>
              <a:pPr indent="-298447" lvl="0" marL="457195" rtl="0" algn="l">
                <a:spcBef>
                  <a:spcPts val="0"/>
                </a:spcBef>
                <a:spcAft>
                  <a:spcPts val="0"/>
                </a:spcAft>
                <a:buClr>
                  <a:schemeClr val="dk1"/>
                </a:buClr>
                <a:buSzPts val="1100"/>
                <a:buFont typeface="Calibri"/>
                <a:buChar char="●"/>
              </a:pPr>
              <a:r>
                <a:rPr b="1" lang="en-US" sz="1100">
                  <a:solidFill>
                    <a:schemeClr val="dk1"/>
                  </a:solidFill>
                  <a:latin typeface="Calibri"/>
                  <a:ea typeface="Calibri"/>
                  <a:cs typeface="Calibri"/>
                  <a:sym typeface="Calibri"/>
                </a:rPr>
                <a:t>The process:</a:t>
              </a:r>
              <a:r>
                <a:rPr lang="en-US" sz="1100">
                  <a:solidFill>
                    <a:schemeClr val="dk1"/>
                  </a:solidFill>
                  <a:latin typeface="Calibri"/>
                  <a:ea typeface="Calibri"/>
                  <a:cs typeface="Calibri"/>
                  <a:sym typeface="Calibri"/>
                </a:rPr>
                <a:t> I used Python to request the 2021 price data directly from the BEA server.</a:t>
              </a:r>
              <a:endParaRPr sz="1100">
                <a:solidFill>
                  <a:schemeClr val="dk1"/>
                </a:solidFill>
                <a:latin typeface="Calibri"/>
                <a:ea typeface="Calibri"/>
                <a:cs typeface="Calibri"/>
                <a:sym typeface="Calibri"/>
              </a:endParaRPr>
            </a:p>
            <a:p>
              <a:pPr indent="-298447" lvl="0" marL="457195" rtl="0" algn="l">
                <a:spcBef>
                  <a:spcPts val="300"/>
                </a:spcBef>
                <a:spcAft>
                  <a:spcPts val="0"/>
                </a:spcAft>
                <a:buClr>
                  <a:schemeClr val="dk1"/>
                </a:buClr>
                <a:buSzPts val="1100"/>
                <a:buFont typeface="Calibri"/>
                <a:buChar char="●"/>
              </a:pPr>
              <a:r>
                <a:rPr b="1" lang="en-US" sz="1100">
                  <a:solidFill>
                    <a:schemeClr val="dk1"/>
                  </a:solidFill>
                  <a:latin typeface="Calibri"/>
                  <a:ea typeface="Calibri"/>
                  <a:cs typeface="Calibri"/>
                  <a:sym typeface="Calibri"/>
                </a:rPr>
                <a:t>The documentation:</a:t>
              </a:r>
              <a:r>
                <a:rPr lang="en-US" sz="1100">
                  <a:solidFill>
                    <a:schemeClr val="dk1"/>
                  </a:solidFill>
                  <a:latin typeface="Calibri"/>
                  <a:ea typeface="Calibri"/>
                  <a:cs typeface="Calibri"/>
                  <a:sym typeface="Calibri"/>
                </a:rPr>
                <a:t> It was difficult to understand. The website had too many nested pages, and a basic request just gave me a mess of random numbers.</a:t>
              </a:r>
              <a:endParaRPr sz="1100">
                <a:solidFill>
                  <a:schemeClr val="dk1"/>
                </a:solidFill>
                <a:latin typeface="Calibri"/>
                <a:ea typeface="Calibri"/>
                <a:cs typeface="Calibri"/>
                <a:sym typeface="Calibri"/>
              </a:endParaRPr>
            </a:p>
            <a:p>
              <a:pPr indent="-298447" lvl="0" marL="457195" rtl="0" algn="l">
                <a:spcBef>
                  <a:spcPts val="300"/>
                </a:spcBef>
                <a:spcAft>
                  <a:spcPts val="0"/>
                </a:spcAft>
                <a:buClr>
                  <a:schemeClr val="dk1"/>
                </a:buClr>
                <a:buSzPts val="1100"/>
                <a:buFont typeface="Calibri"/>
                <a:buChar char="●"/>
              </a:pPr>
              <a:r>
                <a:rPr b="1" lang="en-US" sz="1100">
                  <a:solidFill>
                    <a:schemeClr val="dk1"/>
                  </a:solidFill>
                  <a:latin typeface="Calibri"/>
                  <a:ea typeface="Calibri"/>
                  <a:cs typeface="Calibri"/>
                  <a:sym typeface="Calibri"/>
                </a:rPr>
                <a:t>The steps taken:</a:t>
              </a:r>
              <a:r>
                <a:rPr lang="en-US" sz="1100">
                  <a:solidFill>
                    <a:schemeClr val="dk1"/>
                  </a:solidFill>
                  <a:latin typeface="Calibri"/>
                  <a:ea typeface="Calibri"/>
                  <a:cs typeface="Calibri"/>
                  <a:sym typeface="Calibri"/>
                </a:rPr>
                <a:t> I had to dig through their developer manual to find that </a:t>
              </a:r>
              <a:r>
                <a:rPr b="1" lang="en-US" sz="1100">
                  <a:solidFill>
                    <a:schemeClr val="dk1"/>
                  </a:solidFill>
                  <a:latin typeface="Calibri"/>
                  <a:ea typeface="Calibri"/>
                  <a:cs typeface="Calibri"/>
                  <a:sym typeface="Calibri"/>
                </a:rPr>
                <a:t>"LineCode=1"</a:t>
              </a:r>
              <a:r>
                <a:rPr lang="en-US" sz="1100">
                  <a:solidFill>
                    <a:schemeClr val="dk1"/>
                  </a:solidFill>
                  <a:latin typeface="Calibri"/>
                  <a:ea typeface="Calibri"/>
                  <a:cs typeface="Calibri"/>
                  <a:sym typeface="Calibri"/>
                </a:rPr>
                <a:t> was the specific parameter needed to pull the overall cost of living.</a:t>
              </a:r>
              <a:endParaRPr sz="1100">
                <a:solidFill>
                  <a:schemeClr val="dk1"/>
                </a:solidFill>
                <a:latin typeface="Calibri"/>
                <a:ea typeface="Calibri"/>
                <a:cs typeface="Calibri"/>
                <a:sym typeface="Calibri"/>
              </a:endParaRPr>
            </a:p>
            <a:p>
              <a:pPr indent="0" lvl="0" marL="457195" rtl="0" algn="l">
                <a:spcBef>
                  <a:spcPts val="300"/>
                </a:spcBef>
                <a:spcAft>
                  <a:spcPts val="300"/>
                </a:spcAft>
                <a:buNone/>
              </a:pPr>
              <a:r>
                <a:t/>
              </a:r>
              <a:endParaRPr b="1" sz="1100">
                <a:solidFill>
                  <a:schemeClr val="dk1"/>
                </a:solidFill>
                <a:latin typeface="Calibri"/>
                <a:ea typeface="Calibri"/>
                <a:cs typeface="Calibri"/>
                <a:sym typeface="Calibri"/>
              </a:endParaRPr>
            </a:p>
          </p:txBody>
        </p:sp>
      </p:grpSp>
      <p:sp>
        <p:nvSpPr>
          <p:cNvPr id="66" name="Google Shape;66;p5"/>
          <p:cNvSpPr/>
          <p:nvPr/>
        </p:nvSpPr>
        <p:spPr>
          <a:xfrm>
            <a:off x="4962425" y="1810950"/>
            <a:ext cx="1940400" cy="15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7" name="Google Shape;67;p5"/>
          <p:cNvGrpSpPr/>
          <p:nvPr/>
        </p:nvGrpSpPr>
        <p:grpSpPr>
          <a:xfrm>
            <a:off x="320050" y="2857554"/>
            <a:ext cx="3943200" cy="2029282"/>
            <a:chOff x="320040" y="2857500"/>
            <a:chExt cx="3943200" cy="1714500"/>
          </a:xfrm>
        </p:grpSpPr>
        <p:sp>
          <p:nvSpPr>
            <p:cNvPr id="68" name="Google Shape;68;p5"/>
            <p:cNvSpPr/>
            <p:nvPr/>
          </p:nvSpPr>
          <p:spPr>
            <a:xfrm>
              <a:off x="320040" y="2857500"/>
              <a:ext cx="3943200" cy="1714500"/>
            </a:xfrm>
            <a:prstGeom prst="roundRect">
              <a:avLst>
                <a:gd fmla="val 2222" name="adj"/>
              </a:avLst>
            </a:prstGeom>
            <a:solidFill>
              <a:srgbClr val="FFFFFF"/>
            </a:solidFill>
            <a:ln cap="flat" cmpd="sng" w="9525">
              <a:solidFill>
                <a:srgbClr val="D6E4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5"/>
            <p:cNvSpPr/>
            <p:nvPr/>
          </p:nvSpPr>
          <p:spPr>
            <a:xfrm>
              <a:off x="320040" y="2857500"/>
              <a:ext cx="3943200" cy="38100"/>
            </a:xfrm>
            <a:prstGeom prst="rect">
              <a:avLst/>
            </a:prstGeom>
            <a:solidFill>
              <a:srgbClr val="1A7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5"/>
            <p:cNvSpPr txBox="1"/>
            <p:nvPr/>
          </p:nvSpPr>
          <p:spPr>
            <a:xfrm>
              <a:off x="457200" y="2971800"/>
              <a:ext cx="3676800" cy="1485900"/>
            </a:xfrm>
            <a:prstGeom prst="rect">
              <a:avLst/>
            </a:prstGeom>
            <a:noFill/>
            <a:ln>
              <a:noFill/>
            </a:ln>
          </p:spPr>
          <p:txBody>
            <a:bodyPr anchorCtr="0" anchor="t" bIns="0" lIns="0" spcFirstLastPara="1" rIns="0" wrap="square" tIns="0">
              <a:normAutofit fontScale="92500" lnSpcReduction="20000"/>
            </a:bodyPr>
            <a:lstStyle/>
            <a:p>
              <a:pPr indent="0" lvl="0" marL="0" rtl="0" algn="l">
                <a:spcBef>
                  <a:spcPts val="0"/>
                </a:spcBef>
                <a:spcAft>
                  <a:spcPts val="0"/>
                </a:spcAft>
                <a:buNone/>
              </a:pPr>
              <a:r>
                <a:rPr b="1" lang="en-US" sz="1400">
                  <a:solidFill>
                    <a:srgbClr val="1E2761"/>
                  </a:solidFill>
                  <a:latin typeface="Calibri"/>
                  <a:ea typeface="Calibri"/>
                  <a:cs typeface="Calibri"/>
                  <a:sym typeface="Calibri"/>
                </a:rPr>
                <a:t>Census API</a:t>
              </a:r>
              <a:endParaRPr b="1" sz="1400">
                <a:solidFill>
                  <a:srgbClr val="1E2761"/>
                </a:solidFill>
                <a:latin typeface="Calibri"/>
                <a:ea typeface="Calibri"/>
                <a:cs typeface="Calibri"/>
                <a:sym typeface="Calibri"/>
              </a:endParaRPr>
            </a:p>
            <a:p>
              <a:pPr indent="0" lvl="0" marL="0" rtl="0" algn="l">
                <a:spcBef>
                  <a:spcPts val="0"/>
                </a:spcBef>
                <a:spcAft>
                  <a:spcPts val="0"/>
                </a:spcAft>
                <a:buNone/>
              </a:pPr>
              <a:r>
                <a:rPr i="1" lang="en-US" sz="900">
                  <a:solidFill>
                    <a:srgbClr val="64748B"/>
                  </a:solidFill>
                  <a:latin typeface="Calibri"/>
                  <a:ea typeface="Calibri"/>
                  <a:cs typeface="Calibri"/>
                  <a:sym typeface="Calibri"/>
                </a:rPr>
                <a:t>American Community Survey (ACS 5-Year)</a:t>
              </a:r>
              <a:endParaRPr i="1" sz="900">
                <a:solidFill>
                  <a:srgbClr val="64748B"/>
                </a:solidFill>
                <a:latin typeface="Calibri"/>
                <a:ea typeface="Calibri"/>
                <a:cs typeface="Calibri"/>
                <a:sym typeface="Calibri"/>
              </a:endParaRPr>
            </a:p>
            <a:p>
              <a:pPr indent="-300122" lvl="0" marL="457200" rtl="0" algn="l">
                <a:spcBef>
                  <a:spcPts val="600"/>
                </a:spcBef>
                <a:spcAft>
                  <a:spcPts val="0"/>
                </a:spcAft>
                <a:buClr>
                  <a:srgbClr val="1A7A4A"/>
                </a:buClr>
                <a:buSzPct val="100000"/>
                <a:buFont typeface="Calibri"/>
                <a:buChar char="●"/>
              </a:pPr>
              <a:r>
                <a:rPr b="1" lang="en-US" sz="1218">
                  <a:solidFill>
                    <a:schemeClr val="dk1"/>
                  </a:solidFill>
                  <a:latin typeface="Calibri"/>
                  <a:ea typeface="Calibri"/>
                  <a:cs typeface="Calibri"/>
                  <a:sym typeface="Calibri"/>
                </a:rPr>
                <a:t>The process:</a:t>
              </a:r>
              <a:r>
                <a:rPr lang="en-US" sz="1218">
                  <a:solidFill>
                    <a:schemeClr val="dk1"/>
                  </a:solidFill>
                  <a:latin typeface="Calibri"/>
                  <a:ea typeface="Calibri"/>
                  <a:cs typeface="Calibri"/>
                  <a:sym typeface="Calibri"/>
                </a:rPr>
                <a:t> I used Python to pull income and education data for every city at once.</a:t>
              </a:r>
              <a:endParaRPr sz="1218">
                <a:solidFill>
                  <a:schemeClr val="dk1"/>
                </a:solidFill>
                <a:latin typeface="Calibri"/>
                <a:ea typeface="Calibri"/>
                <a:cs typeface="Calibri"/>
                <a:sym typeface="Calibri"/>
              </a:endParaRPr>
            </a:p>
            <a:p>
              <a:pPr indent="-300122" lvl="0" marL="457200" rtl="0" algn="l">
                <a:spcBef>
                  <a:spcPts val="300"/>
                </a:spcBef>
                <a:spcAft>
                  <a:spcPts val="0"/>
                </a:spcAft>
                <a:buClr>
                  <a:srgbClr val="1A7A4A"/>
                </a:buClr>
                <a:buSzPct val="100000"/>
                <a:buFont typeface="Calibri"/>
                <a:buChar char="●"/>
              </a:pPr>
              <a:r>
                <a:rPr b="1" lang="en-US" sz="1218">
                  <a:solidFill>
                    <a:schemeClr val="dk1"/>
                  </a:solidFill>
                  <a:latin typeface="Calibri"/>
                  <a:ea typeface="Calibri"/>
                  <a:cs typeface="Calibri"/>
                  <a:sym typeface="Calibri"/>
                </a:rPr>
                <a:t>How I found the data:</a:t>
              </a:r>
              <a:r>
                <a:rPr lang="en-US" sz="1218">
                  <a:solidFill>
                    <a:schemeClr val="dk1"/>
                  </a:solidFill>
                  <a:latin typeface="Calibri"/>
                  <a:ea typeface="Calibri"/>
                  <a:cs typeface="Calibri"/>
                  <a:sym typeface="Calibri"/>
                </a:rPr>
                <a:t> The Census has thousands of variables, so I had to figure out which ones meant "college degrees."</a:t>
              </a:r>
              <a:endParaRPr sz="1218">
                <a:solidFill>
                  <a:schemeClr val="dk1"/>
                </a:solidFill>
                <a:latin typeface="Calibri"/>
                <a:ea typeface="Calibri"/>
                <a:cs typeface="Calibri"/>
                <a:sym typeface="Calibri"/>
              </a:endParaRPr>
            </a:p>
            <a:p>
              <a:pPr indent="-300122" lvl="0" marL="457200" rtl="0" algn="l">
                <a:spcBef>
                  <a:spcPts val="300"/>
                </a:spcBef>
                <a:spcAft>
                  <a:spcPts val="300"/>
                </a:spcAft>
                <a:buClr>
                  <a:srgbClr val="1A7A4A"/>
                </a:buClr>
                <a:buSzPct val="100000"/>
                <a:buFont typeface="Calibri"/>
                <a:buChar char="●"/>
              </a:pPr>
              <a:r>
                <a:rPr b="1" lang="en-US" sz="1218">
                  <a:solidFill>
                    <a:schemeClr val="dk1"/>
                  </a:solidFill>
                  <a:latin typeface="Calibri"/>
                  <a:ea typeface="Calibri"/>
                  <a:cs typeface="Calibri"/>
                  <a:sym typeface="Calibri"/>
                </a:rPr>
                <a:t>The steps taken:</a:t>
              </a:r>
              <a:r>
                <a:rPr lang="en-US" sz="1218">
                  <a:solidFill>
                    <a:schemeClr val="dk1"/>
                  </a:solidFill>
                  <a:latin typeface="Calibri"/>
                  <a:ea typeface="Calibri"/>
                  <a:cs typeface="Calibri"/>
                  <a:sym typeface="Calibri"/>
                </a:rPr>
                <a:t> I went online to the Census Variable Dictionary. I used the lookup function to search for "Bachelors" and "Masters," found their exact codes (like B15003), and combined them into my request.</a:t>
              </a:r>
              <a:endParaRPr b="1" sz="1218">
                <a:solidFill>
                  <a:schemeClr val="dk1"/>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6"/>
          <p:cNvSpPr/>
          <p:nvPr/>
        </p:nvSpPr>
        <p:spPr>
          <a:xfrm>
            <a:off x="0" y="0"/>
            <a:ext cx="9144000" cy="6585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txBox="1"/>
          <p:nvPr/>
        </p:nvSpPr>
        <p:spPr>
          <a:xfrm>
            <a:off x="231675" y="82950"/>
            <a:ext cx="7572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 One Merged Dataset- </a:t>
            </a:r>
            <a:r>
              <a:rPr b="1" lang="en-US" sz="1876">
                <a:solidFill>
                  <a:schemeClr val="lt1"/>
                </a:solidFill>
                <a:latin typeface="Calibri"/>
                <a:ea typeface="Calibri"/>
                <a:cs typeface="Calibri"/>
                <a:sym typeface="Calibri"/>
              </a:rPr>
              <a:t>Federal Information Processing Standard (FIPS) </a:t>
            </a:r>
            <a:endParaRPr i="1" sz="900">
              <a:solidFill>
                <a:schemeClr val="lt1"/>
              </a:solidFill>
              <a:latin typeface="Calibri"/>
              <a:ea typeface="Calibri"/>
              <a:cs typeface="Calibri"/>
              <a:sym typeface="Calibri"/>
            </a:endParaRPr>
          </a:p>
          <a:p>
            <a:pPr indent="0" lvl="0" marL="0" rtl="0" algn="l">
              <a:spcBef>
                <a:spcPts val="0"/>
              </a:spcBef>
              <a:spcAft>
                <a:spcPts val="0"/>
              </a:spcAft>
              <a:buNone/>
            </a:pPr>
            <a:r>
              <a:t/>
            </a:r>
            <a:endParaRPr b="1" sz="2000">
              <a:solidFill>
                <a:schemeClr val="lt1"/>
              </a:solidFill>
              <a:latin typeface="Calibri"/>
              <a:ea typeface="Calibri"/>
              <a:cs typeface="Calibri"/>
              <a:sym typeface="Calibri"/>
            </a:endParaRPr>
          </a:p>
        </p:txBody>
      </p:sp>
      <p:pic>
        <p:nvPicPr>
          <p:cNvPr id="78" name="Google Shape;78;p6" title="Screenshot 2026-05-11 at 10.33.15 PM.png"/>
          <p:cNvPicPr preferRelativeResize="0"/>
          <p:nvPr/>
        </p:nvPicPr>
        <p:blipFill>
          <a:blip r:embed="rId3">
            <a:alphaModFix/>
          </a:blip>
          <a:stretch>
            <a:fillRect/>
          </a:stretch>
        </p:blipFill>
        <p:spPr>
          <a:xfrm>
            <a:off x="3764100" y="952550"/>
            <a:ext cx="5379900" cy="1445976"/>
          </a:xfrm>
          <a:prstGeom prst="rect">
            <a:avLst/>
          </a:prstGeom>
          <a:noFill/>
          <a:ln>
            <a:noFill/>
          </a:ln>
        </p:spPr>
      </p:pic>
      <p:grpSp>
        <p:nvGrpSpPr>
          <p:cNvPr id="79" name="Google Shape;79;p6"/>
          <p:cNvGrpSpPr/>
          <p:nvPr/>
        </p:nvGrpSpPr>
        <p:grpSpPr>
          <a:xfrm>
            <a:off x="320024" y="952546"/>
            <a:ext cx="3340616" cy="1837031"/>
            <a:chOff x="320040" y="952500"/>
            <a:chExt cx="4095900" cy="1619100"/>
          </a:xfrm>
        </p:grpSpPr>
        <p:sp>
          <p:nvSpPr>
            <p:cNvPr id="80" name="Google Shape;80;p6"/>
            <p:cNvSpPr/>
            <p:nvPr/>
          </p:nvSpPr>
          <p:spPr>
            <a:xfrm>
              <a:off x="320040" y="952500"/>
              <a:ext cx="4095900" cy="1619100"/>
            </a:xfrm>
            <a:prstGeom prst="roundRect">
              <a:avLst>
                <a:gd fmla="val 3529" name="adj"/>
              </a:avLst>
            </a:prstGeom>
            <a:solidFill>
              <a:srgbClr val="FFFFFF"/>
            </a:solidFill>
            <a:ln cap="flat" cmpd="sng" w="9525">
              <a:solidFill>
                <a:srgbClr val="D6E4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6"/>
            <p:cNvSpPr/>
            <p:nvPr/>
          </p:nvSpPr>
          <p:spPr>
            <a:xfrm>
              <a:off x="320040" y="952500"/>
              <a:ext cx="4095900" cy="38100"/>
            </a:xfrm>
            <a:prstGeom prst="rect">
              <a:avLst/>
            </a:prstGeom>
            <a:solidFill>
              <a:srgbClr val="C0392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6"/>
            <p:cNvSpPr txBox="1"/>
            <p:nvPr/>
          </p:nvSpPr>
          <p:spPr>
            <a:xfrm>
              <a:off x="462915" y="1066800"/>
              <a:ext cx="3810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2761"/>
                  </a:solidFill>
                  <a:latin typeface="Calibri"/>
                  <a:ea typeface="Calibri"/>
                  <a:cs typeface="Calibri"/>
                  <a:sym typeface="Calibri"/>
                </a:rPr>
                <a:t>The Challenge: Merging the Data</a:t>
              </a:r>
              <a:endParaRPr b="1" sz="1400">
                <a:solidFill>
                  <a:srgbClr val="1E2761"/>
                </a:solidFill>
                <a:latin typeface="Calibri"/>
                <a:ea typeface="Calibri"/>
                <a:cs typeface="Calibri"/>
                <a:sym typeface="Calibri"/>
              </a:endParaRPr>
            </a:p>
            <a:p>
              <a:pPr indent="0" lvl="0" marL="0" rtl="0" algn="l">
                <a:spcBef>
                  <a:spcPts val="900"/>
                </a:spcBef>
                <a:spcAft>
                  <a:spcPts val="0"/>
                </a:spcAft>
                <a:buNone/>
              </a:pPr>
              <a:r>
                <a:rPr b="1" lang="en-US" sz="1100">
                  <a:solidFill>
                    <a:srgbClr val="1E2761"/>
                  </a:solidFill>
                  <a:latin typeface="Calibri"/>
                  <a:ea typeface="Calibri"/>
                  <a:cs typeface="Calibri"/>
                  <a:sym typeface="Calibri"/>
                </a:rPr>
                <a:t>The problem:</a:t>
              </a:r>
              <a:endParaRPr b="1" sz="1100">
                <a:solidFill>
                  <a:srgbClr val="1E2761"/>
                </a:solidFill>
                <a:latin typeface="Calibri"/>
                <a:ea typeface="Calibri"/>
                <a:cs typeface="Calibri"/>
                <a:sym typeface="Calibri"/>
              </a:endParaRPr>
            </a:p>
            <a:p>
              <a:pPr indent="0" lvl="0" marL="0" rtl="0" algn="l">
                <a:spcBef>
                  <a:spcPts val="0"/>
                </a:spcBef>
                <a:spcAft>
                  <a:spcPts val="0"/>
                </a:spcAft>
                <a:buNone/>
              </a:pPr>
              <a:r>
                <a:rPr lang="en-US" sz="1050">
                  <a:solidFill>
                    <a:srgbClr val="2D3748"/>
                  </a:solidFill>
                  <a:latin typeface="Calibri"/>
                  <a:ea typeface="Calibri"/>
                  <a:cs typeface="Calibri"/>
                  <a:sym typeface="Calibri"/>
                </a:rPr>
                <a:t>The BEA and Census name cities differently (e.g., "New York" vs "New York City").</a:t>
              </a:r>
              <a:endParaRPr sz="1050">
                <a:solidFill>
                  <a:srgbClr val="2D3748"/>
                </a:solidFill>
                <a:latin typeface="Calibri"/>
                <a:ea typeface="Calibri"/>
                <a:cs typeface="Calibri"/>
                <a:sym typeface="Calibri"/>
              </a:endParaRPr>
            </a:p>
            <a:p>
              <a:pPr indent="0" lvl="0" marL="0" rtl="0" algn="l">
                <a:spcBef>
                  <a:spcPts val="600"/>
                </a:spcBef>
                <a:spcAft>
                  <a:spcPts val="0"/>
                </a:spcAft>
                <a:buNone/>
              </a:pPr>
              <a:r>
                <a:rPr b="1" lang="en-US" sz="1100">
                  <a:solidFill>
                    <a:srgbClr val="1E2761"/>
                  </a:solidFill>
                  <a:latin typeface="Calibri"/>
                  <a:ea typeface="Calibri"/>
                  <a:cs typeface="Calibri"/>
                  <a:sym typeface="Calibri"/>
                </a:rPr>
                <a:t>Past mistakes:</a:t>
              </a:r>
              <a:endParaRPr b="1" sz="1100">
                <a:solidFill>
                  <a:srgbClr val="1E2761"/>
                </a:solidFill>
                <a:latin typeface="Calibri"/>
                <a:ea typeface="Calibri"/>
                <a:cs typeface="Calibri"/>
                <a:sym typeface="Calibri"/>
              </a:endParaRPr>
            </a:p>
            <a:p>
              <a:pPr indent="0" lvl="0" marL="0" rtl="0" algn="l">
                <a:spcBef>
                  <a:spcPts val="0"/>
                </a:spcBef>
                <a:spcAft>
                  <a:spcPts val="0"/>
                </a:spcAft>
                <a:buNone/>
              </a:pPr>
              <a:r>
                <a:rPr lang="en-US" sz="1050">
                  <a:solidFill>
                    <a:srgbClr val="2D3748"/>
                  </a:solidFill>
                  <a:latin typeface="Calibri"/>
                  <a:ea typeface="Calibri"/>
                  <a:cs typeface="Calibri"/>
                  <a:sym typeface="Calibri"/>
                </a:rPr>
                <a:t>Matching by text row-by-row was highly inefficient and caused errors.</a:t>
              </a:r>
              <a:endParaRPr sz="1050">
                <a:solidFill>
                  <a:srgbClr val="2D3748"/>
                </a:solidFill>
                <a:latin typeface="Calibri"/>
                <a:ea typeface="Calibri"/>
                <a:cs typeface="Calibri"/>
                <a:sym typeface="Calibri"/>
              </a:endParaRPr>
            </a:p>
          </p:txBody>
        </p:sp>
      </p:grpSp>
      <p:grpSp>
        <p:nvGrpSpPr>
          <p:cNvPr id="83" name="Google Shape;83;p6"/>
          <p:cNvGrpSpPr/>
          <p:nvPr/>
        </p:nvGrpSpPr>
        <p:grpSpPr>
          <a:xfrm>
            <a:off x="320024" y="3005888"/>
            <a:ext cx="3340616" cy="1837031"/>
            <a:chOff x="320040" y="2762250"/>
            <a:chExt cx="4095900" cy="1619100"/>
          </a:xfrm>
        </p:grpSpPr>
        <p:sp>
          <p:nvSpPr>
            <p:cNvPr id="84" name="Google Shape;84;p6"/>
            <p:cNvSpPr/>
            <p:nvPr/>
          </p:nvSpPr>
          <p:spPr>
            <a:xfrm>
              <a:off x="320040" y="2762250"/>
              <a:ext cx="4095900" cy="1619100"/>
            </a:xfrm>
            <a:prstGeom prst="roundRect">
              <a:avLst>
                <a:gd fmla="val 3529" name="adj"/>
              </a:avLst>
            </a:prstGeom>
            <a:solidFill>
              <a:srgbClr val="FFFFFF"/>
            </a:solidFill>
            <a:ln cap="flat" cmpd="sng" w="9525">
              <a:solidFill>
                <a:srgbClr val="D6E4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 name="Google Shape;85;p6"/>
            <p:cNvSpPr/>
            <p:nvPr/>
          </p:nvSpPr>
          <p:spPr>
            <a:xfrm>
              <a:off x="320040" y="2762250"/>
              <a:ext cx="4095900" cy="38100"/>
            </a:xfrm>
            <a:prstGeom prst="rect">
              <a:avLst/>
            </a:prstGeom>
            <a:solidFill>
              <a:srgbClr val="1A7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6"/>
            <p:cNvSpPr txBox="1"/>
            <p:nvPr/>
          </p:nvSpPr>
          <p:spPr>
            <a:xfrm>
              <a:off x="462915" y="2876550"/>
              <a:ext cx="3810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2761"/>
                  </a:solidFill>
                  <a:latin typeface="Calibri"/>
                  <a:ea typeface="Calibri"/>
                  <a:cs typeface="Calibri"/>
                  <a:sym typeface="Calibri"/>
                </a:rPr>
                <a:t>The Solution: The FIPS Bridge</a:t>
              </a:r>
              <a:endParaRPr b="1" sz="1400">
                <a:solidFill>
                  <a:srgbClr val="1E2761"/>
                </a:solidFill>
                <a:latin typeface="Calibri"/>
                <a:ea typeface="Calibri"/>
                <a:cs typeface="Calibri"/>
                <a:sym typeface="Calibri"/>
              </a:endParaRPr>
            </a:p>
            <a:p>
              <a:pPr indent="0" lvl="0" marL="0" rtl="0" algn="l">
                <a:spcBef>
                  <a:spcPts val="900"/>
                </a:spcBef>
                <a:spcAft>
                  <a:spcPts val="0"/>
                </a:spcAft>
                <a:buNone/>
              </a:pPr>
              <a:r>
                <a:rPr b="1" lang="en-US" sz="1100">
                  <a:solidFill>
                    <a:srgbClr val="1E2761"/>
                  </a:solidFill>
                  <a:latin typeface="Calibri"/>
                  <a:ea typeface="Calibri"/>
                  <a:cs typeface="Calibri"/>
                  <a:sym typeface="Calibri"/>
                </a:rPr>
                <a:t>The fix:</a:t>
              </a:r>
              <a:endParaRPr b="1" sz="1100">
                <a:solidFill>
                  <a:srgbClr val="1E2761"/>
                </a:solidFill>
                <a:latin typeface="Calibri"/>
                <a:ea typeface="Calibri"/>
                <a:cs typeface="Calibri"/>
                <a:sym typeface="Calibri"/>
              </a:endParaRPr>
            </a:p>
            <a:p>
              <a:pPr indent="0" lvl="0" marL="0" rtl="0" algn="l">
                <a:spcBef>
                  <a:spcPts val="0"/>
                </a:spcBef>
                <a:spcAft>
                  <a:spcPts val="0"/>
                </a:spcAft>
                <a:buNone/>
              </a:pPr>
              <a:r>
                <a:rPr lang="en-US" sz="1050">
                  <a:solidFill>
                    <a:srgbClr val="2D3748"/>
                  </a:solidFill>
                  <a:latin typeface="Calibri"/>
                  <a:ea typeface="Calibri"/>
                  <a:cs typeface="Calibri"/>
                  <a:sym typeface="Calibri"/>
                </a:rPr>
                <a:t>Both datasets use the Federal </a:t>
              </a:r>
              <a:r>
                <a:rPr b="1" lang="en-US" sz="1050">
                  <a:solidFill>
                    <a:srgbClr val="2D3748"/>
                  </a:solidFill>
                  <a:latin typeface="Calibri"/>
                  <a:ea typeface="Calibri"/>
                  <a:cs typeface="Calibri"/>
                  <a:sym typeface="Calibri"/>
                </a:rPr>
                <a:t>GeoFips Code</a:t>
              </a:r>
              <a:r>
                <a:rPr lang="en-US" sz="1050">
                  <a:solidFill>
                    <a:srgbClr val="2D3748"/>
                  </a:solidFill>
                  <a:latin typeface="Calibri"/>
                  <a:ea typeface="Calibri"/>
                  <a:cs typeface="Calibri"/>
                  <a:sym typeface="Calibri"/>
                </a:rPr>
                <a:t>—a unique ID for every city.</a:t>
              </a:r>
              <a:endParaRPr sz="1050">
                <a:solidFill>
                  <a:srgbClr val="2D3748"/>
                </a:solidFill>
                <a:latin typeface="Calibri"/>
                <a:ea typeface="Calibri"/>
                <a:cs typeface="Calibri"/>
                <a:sym typeface="Calibri"/>
              </a:endParaRPr>
            </a:p>
            <a:p>
              <a:pPr indent="0" lvl="0" marL="0" rtl="0" algn="l">
                <a:spcBef>
                  <a:spcPts val="600"/>
                </a:spcBef>
                <a:spcAft>
                  <a:spcPts val="0"/>
                </a:spcAft>
                <a:buNone/>
              </a:pPr>
              <a:r>
                <a:rPr b="1" lang="en-US" sz="1100">
                  <a:solidFill>
                    <a:srgbClr val="1E2761"/>
                  </a:solidFill>
                  <a:latin typeface="Calibri"/>
                  <a:ea typeface="Calibri"/>
                  <a:cs typeface="Calibri"/>
                  <a:sym typeface="Calibri"/>
                </a:rPr>
                <a:t>The result:</a:t>
              </a:r>
              <a:endParaRPr b="1" sz="1100">
                <a:solidFill>
                  <a:srgbClr val="1E2761"/>
                </a:solidFill>
                <a:latin typeface="Calibri"/>
                <a:ea typeface="Calibri"/>
                <a:cs typeface="Calibri"/>
                <a:sym typeface="Calibri"/>
              </a:endParaRPr>
            </a:p>
            <a:p>
              <a:pPr indent="0" lvl="0" marL="0" rtl="0" algn="l">
                <a:spcBef>
                  <a:spcPts val="0"/>
                </a:spcBef>
                <a:spcAft>
                  <a:spcPts val="0"/>
                </a:spcAft>
                <a:buNone/>
              </a:pPr>
              <a:r>
                <a:rPr lang="en-US" sz="1050">
                  <a:solidFill>
                    <a:srgbClr val="2D3748"/>
                  </a:solidFill>
                  <a:latin typeface="Calibri"/>
                  <a:ea typeface="Calibri"/>
                  <a:cs typeface="Calibri"/>
                  <a:sym typeface="Calibri"/>
                </a:rPr>
                <a:t>Successfully matched 379 cities instantly using Pandas.</a:t>
              </a:r>
              <a:endParaRPr sz="1050">
                <a:solidFill>
                  <a:srgbClr val="2D3748"/>
                </a:solidFill>
                <a:latin typeface="Calibri"/>
                <a:ea typeface="Calibri"/>
                <a:cs typeface="Calibri"/>
                <a:sym typeface="Calibri"/>
              </a:endParaRPr>
            </a:p>
          </p:txBody>
        </p:sp>
      </p:grpSp>
      <p:pic>
        <p:nvPicPr>
          <p:cNvPr id="87" name="Google Shape;87;p6" title="Screenshot 2026-05-11 at 11.16.31 PM.png"/>
          <p:cNvPicPr preferRelativeResize="0"/>
          <p:nvPr/>
        </p:nvPicPr>
        <p:blipFill>
          <a:blip r:embed="rId4">
            <a:alphaModFix/>
          </a:blip>
          <a:stretch>
            <a:fillRect/>
          </a:stretch>
        </p:blipFill>
        <p:spPr>
          <a:xfrm>
            <a:off x="3764100" y="3259149"/>
            <a:ext cx="5379901" cy="1186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C"/>
        </a:solidFill>
      </p:bgPr>
    </p:bg>
    <p:spTree>
      <p:nvGrpSpPr>
        <p:cNvPr id="92" name="Shape 92"/>
        <p:cNvGrpSpPr/>
        <p:nvPr/>
      </p:nvGrpSpPr>
      <p:grpSpPr>
        <a:xfrm>
          <a:off x="0" y="0"/>
          <a:ext cx="0" cy="0"/>
          <a:chOff x="0" y="0"/>
          <a:chExt cx="0" cy="0"/>
        </a:xfrm>
      </p:grpSpPr>
      <p:sp>
        <p:nvSpPr>
          <p:cNvPr id="93" name="Google Shape;93;p7"/>
          <p:cNvSpPr/>
          <p:nvPr/>
        </p:nvSpPr>
        <p:spPr>
          <a:xfrm>
            <a:off x="0" y="0"/>
            <a:ext cx="9144000" cy="65836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Created </a:t>
            </a:r>
            <a:r>
              <a:rPr b="1" i="0" lang="en-US" sz="2000" u="none" cap="none" strike="noStrike">
                <a:solidFill>
                  <a:srgbClr val="FFFFFF"/>
                </a:solidFill>
                <a:latin typeface="Calibri"/>
                <a:ea typeface="Calibri"/>
                <a:cs typeface="Calibri"/>
                <a:sym typeface="Calibri"/>
              </a:rPr>
              <a:t>Variables </a:t>
            </a:r>
            <a:endParaRPr b="0" i="0" sz="2000" u="none" cap="none" strike="noStrike">
              <a:solidFill>
                <a:schemeClr val="dk1"/>
              </a:solidFill>
              <a:latin typeface="Calibri"/>
              <a:ea typeface="Calibri"/>
              <a:cs typeface="Calibri"/>
              <a:sym typeface="Calibri"/>
            </a:endParaRPr>
          </a:p>
        </p:txBody>
      </p:sp>
      <p:sp>
        <p:nvSpPr>
          <p:cNvPr id="95" name="Google Shape;95;p7"/>
          <p:cNvSpPr/>
          <p:nvPr/>
        </p:nvSpPr>
        <p:spPr>
          <a:xfrm>
            <a:off x="256025" y="1207003"/>
            <a:ext cx="2798100" cy="2414100"/>
          </a:xfrm>
          <a:prstGeom prst="rect">
            <a:avLst/>
          </a:prstGeom>
          <a:solidFill>
            <a:srgbClr val="FFFFFF"/>
          </a:solidFill>
          <a:ln cap="flat" cmpd="sng" w="12700">
            <a:solidFill>
              <a:srgbClr val="D6E4F7"/>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256025" y="1207003"/>
            <a:ext cx="2798100" cy="414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384041" y="1266169"/>
            <a:ext cx="2541900" cy="22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00"/>
              <a:buFont typeface="Calibri"/>
              <a:buNone/>
            </a:pPr>
            <a:r>
              <a:rPr b="1" i="0" lang="en-US" sz="1200" u="none" cap="none" strike="noStrike">
                <a:solidFill>
                  <a:srgbClr val="1E2761"/>
                </a:solidFill>
                <a:latin typeface="Calibri"/>
                <a:ea typeface="Calibri"/>
                <a:cs typeface="Calibri"/>
                <a:sym typeface="Calibri"/>
              </a:rPr>
              <a:t>Real_Purchasing_Power</a:t>
            </a:r>
            <a:endParaRPr b="0" i="0" sz="1200" u="none" cap="none" strike="noStrike">
              <a:solidFill>
                <a:srgbClr val="000000"/>
              </a:solidFill>
              <a:latin typeface="Calibri"/>
              <a:ea typeface="Calibri"/>
              <a:cs typeface="Calibri"/>
              <a:sym typeface="Calibri"/>
            </a:endParaRPr>
          </a:p>
        </p:txBody>
      </p:sp>
      <p:sp>
        <p:nvSpPr>
          <p:cNvPr id="98" name="Google Shape;98;p7"/>
          <p:cNvSpPr/>
          <p:nvPr/>
        </p:nvSpPr>
        <p:spPr>
          <a:xfrm>
            <a:off x="347465" y="1508752"/>
            <a:ext cx="2615100" cy="260400"/>
          </a:xfrm>
          <a:prstGeom prst="rect">
            <a:avLst/>
          </a:prstGeom>
          <a:solidFill>
            <a:srgbClr val="D6E4F7"/>
          </a:solidFill>
          <a:ln cap="flat" cmpd="sng" w="12700">
            <a:solidFill>
              <a:srgbClr val="D6E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347465" y="1508752"/>
            <a:ext cx="2615100" cy="26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Nominal Income  ÷  (RPP / 100)</a:t>
            </a:r>
            <a:endParaRPr b="0" i="0" sz="1100" u="none" cap="none" strike="noStrike">
              <a:solidFill>
                <a:srgbClr val="000000"/>
              </a:solidFill>
              <a:latin typeface="Calibri"/>
              <a:ea typeface="Calibri"/>
              <a:cs typeface="Calibri"/>
              <a:sym typeface="Calibri"/>
            </a:endParaRPr>
          </a:p>
        </p:txBody>
      </p:sp>
      <p:sp>
        <p:nvSpPr>
          <p:cNvPr id="100" name="Google Shape;100;p7"/>
          <p:cNvSpPr/>
          <p:nvPr/>
        </p:nvSpPr>
        <p:spPr>
          <a:xfrm>
            <a:off x="384223" y="1810628"/>
            <a:ext cx="25419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b="1" i="0" lang="en-US" sz="1000" u="none" cap="none" strike="noStrike">
                <a:solidFill>
                  <a:srgbClr val="1E2761"/>
                </a:solidFill>
                <a:latin typeface="Calibri"/>
                <a:ea typeface="Calibri"/>
                <a:cs typeface="Calibri"/>
                <a:sym typeface="Calibri"/>
              </a:rPr>
              <a:t>Why built:</a:t>
            </a:r>
            <a:endParaRPr b="0" i="0" sz="1000" u="none" cap="none" strike="noStrike">
              <a:solidFill>
                <a:srgbClr val="000000"/>
              </a:solidFill>
              <a:latin typeface="Calibri"/>
              <a:ea typeface="Calibri"/>
              <a:cs typeface="Calibri"/>
              <a:sym typeface="Calibri"/>
            </a:endParaRPr>
          </a:p>
        </p:txBody>
      </p:sp>
      <p:sp>
        <p:nvSpPr>
          <p:cNvPr id="101" name="Google Shape;101;p7"/>
          <p:cNvSpPr/>
          <p:nvPr/>
        </p:nvSpPr>
        <p:spPr>
          <a:xfrm>
            <a:off x="384048" y="2029508"/>
            <a:ext cx="25419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748"/>
              </a:buClr>
              <a:buSzPts val="1000"/>
              <a:buFont typeface="Calibri"/>
              <a:buNone/>
            </a:pPr>
            <a:r>
              <a:rPr lang="en-US" sz="1000">
                <a:solidFill>
                  <a:srgbClr val="2D3748"/>
                </a:solidFill>
                <a:latin typeface="Calibri"/>
                <a:ea typeface="Calibri"/>
                <a:cs typeface="Calibri"/>
                <a:sym typeface="Calibri"/>
              </a:rPr>
              <a:t>This variable takes a city's salary and divides it by its local price index. This shows the real cost of living, not just the nominal amount of money on a salary statement.</a:t>
            </a:r>
            <a:endParaRPr b="0" i="0" sz="1000" u="none" cap="none" strike="noStrike">
              <a:solidFill>
                <a:srgbClr val="000000"/>
              </a:solidFill>
              <a:latin typeface="Calibri"/>
              <a:ea typeface="Calibri"/>
              <a:cs typeface="Calibri"/>
              <a:sym typeface="Calibri"/>
            </a:endParaRPr>
          </a:p>
        </p:txBody>
      </p:sp>
      <p:sp>
        <p:nvSpPr>
          <p:cNvPr id="102" name="Google Shape;102;p7"/>
          <p:cNvSpPr/>
          <p:nvPr/>
        </p:nvSpPr>
        <p:spPr>
          <a:xfrm>
            <a:off x="384048" y="3566160"/>
            <a:ext cx="2541900" cy="18300"/>
          </a:xfrm>
          <a:prstGeom prst="rect">
            <a:avLst/>
          </a:prstGeom>
          <a:solidFill>
            <a:srgbClr val="D6E4F7"/>
          </a:solidFill>
          <a:ln cap="flat" cmpd="sng" w="12700">
            <a:solidFill>
              <a:srgbClr val="D6E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384223" y="2798199"/>
            <a:ext cx="25419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1" lang="en-US" sz="950" u="none" cap="none" strike="noStrike">
                <a:solidFill>
                  <a:srgbClr val="64748B"/>
                </a:solidFill>
                <a:latin typeface="Calibri"/>
                <a:ea typeface="Calibri"/>
                <a:cs typeface="Calibri"/>
                <a:sym typeface="Calibri"/>
              </a:rPr>
              <a:t>Ex</a:t>
            </a:r>
            <a:r>
              <a:rPr i="1" lang="en-US" sz="950">
                <a:solidFill>
                  <a:srgbClr val="64748B"/>
                </a:solidFill>
                <a:latin typeface="Calibri"/>
                <a:ea typeface="Calibri"/>
                <a:cs typeface="Calibri"/>
                <a:sym typeface="Calibri"/>
              </a:rPr>
              <a:t>:</a:t>
            </a:r>
            <a:r>
              <a:rPr b="0" i="1" lang="en-US" sz="950" u="none" cap="none" strike="noStrike">
                <a:solidFill>
                  <a:srgbClr val="64748B"/>
                </a:solidFill>
                <a:latin typeface="Calibri"/>
                <a:ea typeface="Calibri"/>
                <a:cs typeface="Calibri"/>
                <a:sym typeface="Calibri"/>
              </a:rPr>
              <a:t> San Francisco pays $118k nominally but only $98k in real terms (RPP = 120)</a:t>
            </a:r>
            <a:r>
              <a:rPr i="1" lang="en-US" sz="950">
                <a:solidFill>
                  <a:srgbClr val="64748B"/>
                </a:solidFill>
                <a:latin typeface="Calibri"/>
                <a:ea typeface="Calibri"/>
                <a:cs typeface="Calibri"/>
                <a:sym typeface="Calibri"/>
              </a:rPr>
              <a:t> </a:t>
            </a:r>
            <a:r>
              <a:rPr b="0" i="1" lang="en-US" sz="950" u="none" cap="none" strike="noStrike">
                <a:solidFill>
                  <a:srgbClr val="64748B"/>
                </a:solidFill>
                <a:latin typeface="Calibri"/>
                <a:ea typeface="Calibri"/>
                <a:cs typeface="Calibri"/>
                <a:sym typeface="Calibri"/>
              </a:rPr>
              <a:t>wealth.</a:t>
            </a:r>
            <a:endParaRPr b="0" i="0" sz="950" u="none" cap="none" strike="noStrike">
              <a:solidFill>
                <a:srgbClr val="000000"/>
              </a:solidFill>
              <a:latin typeface="Calibri"/>
              <a:ea typeface="Calibri"/>
              <a:cs typeface="Calibri"/>
              <a:sym typeface="Calibri"/>
            </a:endParaRPr>
          </a:p>
        </p:txBody>
      </p:sp>
      <p:sp>
        <p:nvSpPr>
          <p:cNvPr id="104" name="Google Shape;104;p7"/>
          <p:cNvSpPr/>
          <p:nvPr/>
        </p:nvSpPr>
        <p:spPr>
          <a:xfrm>
            <a:off x="3163822" y="1207003"/>
            <a:ext cx="2798100" cy="2414100"/>
          </a:xfrm>
          <a:prstGeom prst="rect">
            <a:avLst/>
          </a:prstGeom>
          <a:solidFill>
            <a:srgbClr val="FFFFFF"/>
          </a:solidFill>
          <a:ln cap="flat" cmpd="sng" w="12700">
            <a:solidFill>
              <a:srgbClr val="D6E4F7"/>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3163822" y="1207003"/>
            <a:ext cx="2798100" cy="41400"/>
          </a:xfrm>
          <a:prstGeom prst="rect">
            <a:avLst/>
          </a:prstGeom>
          <a:solidFill>
            <a:srgbClr val="1A7A4A"/>
          </a:solidFill>
          <a:ln cap="flat" cmpd="sng" w="12700">
            <a:solidFill>
              <a:srgbClr val="1A7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3291839" y="1266169"/>
            <a:ext cx="2541900" cy="22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200"/>
              <a:buFont typeface="Calibri"/>
              <a:buNone/>
            </a:pPr>
            <a:r>
              <a:rPr b="1" i="0" lang="en-US" sz="1200" u="none" cap="none" strike="noStrike">
                <a:solidFill>
                  <a:srgbClr val="1A7A4A"/>
                </a:solidFill>
                <a:latin typeface="Calibri"/>
                <a:ea typeface="Calibri"/>
                <a:cs typeface="Calibri"/>
                <a:sym typeface="Calibri"/>
              </a:rPr>
              <a:t>Education_Rate</a:t>
            </a:r>
            <a:endParaRPr b="0" i="0" sz="1200" u="none" cap="none" strike="noStrike">
              <a:solidFill>
                <a:srgbClr val="000000"/>
              </a:solidFill>
              <a:latin typeface="Calibri"/>
              <a:ea typeface="Calibri"/>
              <a:cs typeface="Calibri"/>
              <a:sym typeface="Calibri"/>
            </a:endParaRPr>
          </a:p>
        </p:txBody>
      </p:sp>
      <p:sp>
        <p:nvSpPr>
          <p:cNvPr id="107" name="Google Shape;107;p7"/>
          <p:cNvSpPr/>
          <p:nvPr/>
        </p:nvSpPr>
        <p:spPr>
          <a:xfrm>
            <a:off x="3255263" y="1508752"/>
            <a:ext cx="2615100" cy="260400"/>
          </a:xfrm>
          <a:prstGeom prst="rect">
            <a:avLst/>
          </a:prstGeom>
          <a:solidFill>
            <a:srgbClr val="D6E4F7"/>
          </a:solidFill>
          <a:ln cap="flat" cmpd="sng" w="12700">
            <a:solidFill>
              <a:srgbClr val="D6E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3255263" y="1508752"/>
            <a:ext cx="2615100" cy="26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High_Skill_Total  ÷  Population</a:t>
            </a:r>
            <a:endParaRPr b="0" i="0" sz="1100" u="none" cap="none" strike="noStrike">
              <a:solidFill>
                <a:srgbClr val="000000"/>
              </a:solidFill>
              <a:latin typeface="Calibri"/>
              <a:ea typeface="Calibri"/>
              <a:cs typeface="Calibri"/>
              <a:sym typeface="Calibri"/>
            </a:endParaRPr>
          </a:p>
        </p:txBody>
      </p:sp>
      <p:sp>
        <p:nvSpPr>
          <p:cNvPr id="109" name="Google Shape;109;p7"/>
          <p:cNvSpPr/>
          <p:nvPr/>
        </p:nvSpPr>
        <p:spPr>
          <a:xfrm>
            <a:off x="3291915" y="1810628"/>
            <a:ext cx="25419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A4A"/>
              </a:buClr>
              <a:buSzPts val="1000"/>
              <a:buFont typeface="Calibri"/>
              <a:buNone/>
            </a:pPr>
            <a:r>
              <a:rPr b="1" i="0" lang="en-US" sz="1000" u="none" cap="none" strike="noStrike">
                <a:solidFill>
                  <a:srgbClr val="1A7A4A"/>
                </a:solidFill>
                <a:latin typeface="Calibri"/>
                <a:ea typeface="Calibri"/>
                <a:cs typeface="Calibri"/>
                <a:sym typeface="Calibri"/>
              </a:rPr>
              <a:t>Why built:</a:t>
            </a:r>
            <a:endParaRPr b="0" i="0" sz="1000" u="none" cap="none" strike="noStrike">
              <a:solidFill>
                <a:srgbClr val="000000"/>
              </a:solidFill>
              <a:latin typeface="Calibri"/>
              <a:ea typeface="Calibri"/>
              <a:cs typeface="Calibri"/>
              <a:sym typeface="Calibri"/>
            </a:endParaRPr>
          </a:p>
        </p:txBody>
      </p:sp>
      <p:sp>
        <p:nvSpPr>
          <p:cNvPr id="110" name="Google Shape;110;p7"/>
          <p:cNvSpPr/>
          <p:nvPr/>
        </p:nvSpPr>
        <p:spPr>
          <a:xfrm>
            <a:off x="3291915" y="1934221"/>
            <a:ext cx="25419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748"/>
              </a:buClr>
              <a:buSzPts val="1000"/>
              <a:buFont typeface="Calibri"/>
              <a:buNone/>
            </a:pPr>
            <a:r>
              <a:rPr lang="en-US" sz="1000">
                <a:solidFill>
                  <a:srgbClr val="2D3748"/>
                </a:solidFill>
                <a:latin typeface="Calibri"/>
                <a:ea typeface="Calibri"/>
                <a:cs typeface="Calibri"/>
                <a:sym typeface="Calibri"/>
              </a:rPr>
              <a:t>By dividing by population, you get a density measure that lets you compare a city of 50,000 people to one of 5 million people fairly.</a:t>
            </a:r>
            <a:endParaRPr b="0" i="0" sz="1000" u="none" cap="none" strike="noStrike">
              <a:solidFill>
                <a:srgbClr val="000000"/>
              </a:solidFill>
              <a:latin typeface="Calibri"/>
              <a:ea typeface="Calibri"/>
              <a:cs typeface="Calibri"/>
              <a:sym typeface="Calibri"/>
            </a:endParaRPr>
          </a:p>
        </p:txBody>
      </p:sp>
      <p:sp>
        <p:nvSpPr>
          <p:cNvPr id="111" name="Google Shape;111;p7"/>
          <p:cNvSpPr/>
          <p:nvPr/>
        </p:nvSpPr>
        <p:spPr>
          <a:xfrm>
            <a:off x="3291840" y="3566160"/>
            <a:ext cx="2541900" cy="18300"/>
          </a:xfrm>
          <a:prstGeom prst="rect">
            <a:avLst/>
          </a:prstGeom>
          <a:solidFill>
            <a:srgbClr val="D6E4F7"/>
          </a:solidFill>
          <a:ln cap="flat" cmpd="sng" w="12700">
            <a:solidFill>
              <a:srgbClr val="D6E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3291915" y="2798199"/>
            <a:ext cx="25419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1" lang="en-US" sz="950" u="none" cap="none" strike="noStrike">
                <a:solidFill>
                  <a:srgbClr val="64748B"/>
                </a:solidFill>
                <a:latin typeface="Calibri"/>
                <a:ea typeface="Calibri"/>
                <a:cs typeface="Calibri"/>
                <a:sym typeface="Calibri"/>
              </a:rPr>
              <a:t>E</a:t>
            </a:r>
            <a:r>
              <a:rPr i="1" lang="en-US" sz="950">
                <a:solidFill>
                  <a:srgbClr val="64748B"/>
                </a:solidFill>
                <a:latin typeface="Calibri"/>
                <a:ea typeface="Calibri"/>
                <a:cs typeface="Calibri"/>
                <a:sym typeface="Calibri"/>
              </a:rPr>
              <a:t>x:</a:t>
            </a:r>
            <a:r>
              <a:rPr b="0" i="1" lang="en-US" sz="950" u="none" cap="none" strike="noStrike">
                <a:solidFill>
                  <a:srgbClr val="64748B"/>
                </a:solidFill>
                <a:latin typeface="Calibri"/>
                <a:ea typeface="Calibri"/>
                <a:cs typeface="Calibri"/>
                <a:sym typeface="Calibri"/>
              </a:rPr>
              <a:t> Boulder, CO has one of the highest education rates (~0.42), meaning 42% of residents hold at least a bachelor's degree.</a:t>
            </a:r>
            <a:endParaRPr b="0" i="0" sz="950" u="none" cap="none" strike="noStrike">
              <a:solidFill>
                <a:srgbClr val="000000"/>
              </a:solidFill>
              <a:latin typeface="Calibri"/>
              <a:ea typeface="Calibri"/>
              <a:cs typeface="Calibri"/>
              <a:sym typeface="Calibri"/>
            </a:endParaRPr>
          </a:p>
        </p:txBody>
      </p:sp>
      <p:sp>
        <p:nvSpPr>
          <p:cNvPr id="113" name="Google Shape;113;p7"/>
          <p:cNvSpPr/>
          <p:nvPr/>
        </p:nvSpPr>
        <p:spPr>
          <a:xfrm>
            <a:off x="6071620" y="1207003"/>
            <a:ext cx="2798100" cy="2414100"/>
          </a:xfrm>
          <a:prstGeom prst="rect">
            <a:avLst/>
          </a:prstGeom>
          <a:solidFill>
            <a:srgbClr val="FFFFFF"/>
          </a:solidFill>
          <a:ln cap="flat" cmpd="sng" w="12700">
            <a:solidFill>
              <a:srgbClr val="D6E4F7"/>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6071620" y="1207003"/>
            <a:ext cx="2798100" cy="414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6199636" y="1266169"/>
            <a:ext cx="2541900" cy="22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1" i="0" lang="en-US" sz="1200" u="none" cap="none" strike="noStrike">
                <a:solidFill>
                  <a:srgbClr val="C0392B"/>
                </a:solidFill>
                <a:latin typeface="Calibri"/>
                <a:ea typeface="Calibri"/>
                <a:cs typeface="Calibri"/>
                <a:sym typeface="Calibri"/>
              </a:rPr>
              <a:t>High_Cost </a:t>
            </a:r>
            <a:endParaRPr b="0" i="0" sz="1200" u="none" cap="none" strike="noStrike">
              <a:solidFill>
                <a:srgbClr val="000000"/>
              </a:solidFill>
              <a:latin typeface="Calibri"/>
              <a:ea typeface="Calibri"/>
              <a:cs typeface="Calibri"/>
              <a:sym typeface="Calibri"/>
            </a:endParaRPr>
          </a:p>
        </p:txBody>
      </p:sp>
      <p:sp>
        <p:nvSpPr>
          <p:cNvPr id="116" name="Google Shape;116;p7"/>
          <p:cNvSpPr/>
          <p:nvPr/>
        </p:nvSpPr>
        <p:spPr>
          <a:xfrm>
            <a:off x="6163060" y="1508752"/>
            <a:ext cx="2615100" cy="260400"/>
          </a:xfrm>
          <a:prstGeom prst="rect">
            <a:avLst/>
          </a:prstGeom>
          <a:solidFill>
            <a:srgbClr val="D6E4F7"/>
          </a:solidFill>
          <a:ln cap="flat" cmpd="sng" w="12700">
            <a:solidFill>
              <a:srgbClr val="D6E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6163060" y="1508752"/>
            <a:ext cx="2615100" cy="26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1  if RPP &gt; 100,  else  0</a:t>
            </a:r>
            <a:endParaRPr b="0" i="0" sz="1100" u="none" cap="none" strike="noStrike">
              <a:solidFill>
                <a:srgbClr val="000000"/>
              </a:solidFill>
              <a:latin typeface="Calibri"/>
              <a:ea typeface="Calibri"/>
              <a:cs typeface="Calibri"/>
              <a:sym typeface="Calibri"/>
            </a:endParaRPr>
          </a:p>
        </p:txBody>
      </p:sp>
      <p:sp>
        <p:nvSpPr>
          <p:cNvPr id="118" name="Google Shape;118;p7"/>
          <p:cNvSpPr/>
          <p:nvPr/>
        </p:nvSpPr>
        <p:spPr>
          <a:xfrm>
            <a:off x="6199632" y="1787028"/>
            <a:ext cx="25419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Why built:</a:t>
            </a:r>
            <a:endParaRPr b="0" i="0" sz="1000" u="none" cap="none" strike="noStrike">
              <a:solidFill>
                <a:srgbClr val="000000"/>
              </a:solidFill>
              <a:latin typeface="Calibri"/>
              <a:ea typeface="Calibri"/>
              <a:cs typeface="Calibri"/>
              <a:sym typeface="Calibri"/>
            </a:endParaRPr>
          </a:p>
        </p:txBody>
      </p:sp>
      <p:sp>
        <p:nvSpPr>
          <p:cNvPr id="119" name="Google Shape;119;p7"/>
          <p:cNvSpPr/>
          <p:nvPr/>
        </p:nvSpPr>
        <p:spPr>
          <a:xfrm>
            <a:off x="6199807" y="1961658"/>
            <a:ext cx="25419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3748"/>
              </a:buClr>
              <a:buSzPts val="1000"/>
              <a:buFont typeface="Calibri"/>
              <a:buNone/>
            </a:pPr>
            <a:r>
              <a:rPr b="0" i="0" lang="en-US" sz="1000" u="none" cap="none" strike="noStrike">
                <a:solidFill>
                  <a:srgbClr val="2D3748"/>
                </a:solidFill>
                <a:latin typeface="Calibri"/>
                <a:ea typeface="Calibri"/>
                <a:cs typeface="Calibri"/>
                <a:sym typeface="Calibri"/>
              </a:rPr>
              <a:t>A binary </a:t>
            </a:r>
            <a:r>
              <a:rPr lang="en-US" sz="1000">
                <a:solidFill>
                  <a:srgbClr val="2D3748"/>
                </a:solidFill>
                <a:latin typeface="Calibri"/>
                <a:ea typeface="Calibri"/>
                <a:cs typeface="Calibri"/>
                <a:sym typeface="Calibri"/>
              </a:rPr>
              <a:t>column</a:t>
            </a:r>
            <a:r>
              <a:rPr b="0" i="0" lang="en-US" sz="1000" u="none" cap="none" strike="noStrike">
                <a:solidFill>
                  <a:srgbClr val="2D3748"/>
                </a:solidFill>
                <a:latin typeface="Calibri"/>
                <a:ea typeface="Calibri"/>
                <a:cs typeface="Calibri"/>
                <a:sym typeface="Calibri"/>
              </a:rPr>
              <a:t> that isolates the 63 expensive metro</a:t>
            </a:r>
            <a:r>
              <a:rPr lang="en-US" sz="1000">
                <a:solidFill>
                  <a:srgbClr val="2D3748"/>
                </a:solidFill>
                <a:latin typeface="Calibri"/>
                <a:ea typeface="Calibri"/>
                <a:cs typeface="Calibri"/>
                <a:sym typeface="Calibri"/>
              </a:rPr>
              <a:t> areas</a:t>
            </a:r>
            <a:r>
              <a:rPr b="0" i="0" lang="en-US" sz="1000" u="none" cap="none" strike="noStrike">
                <a:solidFill>
                  <a:srgbClr val="2D3748"/>
                </a:solidFill>
                <a:latin typeface="Calibri"/>
                <a:ea typeface="Calibri"/>
                <a:cs typeface="Calibri"/>
                <a:sym typeface="Calibri"/>
              </a:rPr>
              <a:t> (RPP above the national average). </a:t>
            </a:r>
            <a:r>
              <a:rPr lang="en-US" sz="1000">
                <a:solidFill>
                  <a:srgbClr val="2D3748"/>
                </a:solidFill>
                <a:latin typeface="Calibri"/>
                <a:ea typeface="Calibri"/>
                <a:cs typeface="Calibri"/>
                <a:sym typeface="Calibri"/>
              </a:rPr>
              <a:t>Used in Regression 2 only for high-cost cities, testing if wage premium is different in expensive areas.</a:t>
            </a:r>
            <a:endParaRPr b="0" i="0" sz="1000" u="none" cap="none" strike="noStrike">
              <a:solidFill>
                <a:srgbClr val="000000"/>
              </a:solidFill>
              <a:latin typeface="Calibri"/>
              <a:ea typeface="Calibri"/>
              <a:cs typeface="Calibri"/>
              <a:sym typeface="Calibri"/>
            </a:endParaRPr>
          </a:p>
        </p:txBody>
      </p:sp>
      <p:sp>
        <p:nvSpPr>
          <p:cNvPr id="120" name="Google Shape;120;p7"/>
          <p:cNvSpPr/>
          <p:nvPr/>
        </p:nvSpPr>
        <p:spPr>
          <a:xfrm>
            <a:off x="6199632" y="3566160"/>
            <a:ext cx="2541900" cy="18300"/>
          </a:xfrm>
          <a:prstGeom prst="rect">
            <a:avLst/>
          </a:prstGeom>
          <a:solidFill>
            <a:srgbClr val="D6E4F7"/>
          </a:solidFill>
          <a:ln cap="flat" cmpd="sng" w="12700">
            <a:solidFill>
              <a:srgbClr val="D6E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6199625" y="2761550"/>
            <a:ext cx="25419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1" lang="en-US" sz="950" u="none" cap="none" strike="noStrike">
                <a:solidFill>
                  <a:srgbClr val="64748B"/>
                </a:solidFill>
                <a:latin typeface="Calibri"/>
                <a:ea typeface="Calibri"/>
                <a:cs typeface="Calibri"/>
                <a:sym typeface="Calibri"/>
              </a:rPr>
              <a:t>63 cities flagged as High Cost (RPP &gt; 100).  316 cities flagged as Low Cost.</a:t>
            </a:r>
            <a:endParaRPr b="0" i="0" sz="950" u="none" cap="none" strike="noStrike">
              <a:solidFill>
                <a:srgbClr val="000000"/>
              </a:solidFill>
              <a:latin typeface="Calibri"/>
              <a:ea typeface="Calibri"/>
              <a:cs typeface="Calibri"/>
              <a:sym typeface="Calibri"/>
            </a:endParaRPr>
          </a:p>
        </p:txBody>
      </p:sp>
      <p:pic>
        <p:nvPicPr>
          <p:cNvPr id="122" name="Google Shape;122;p7" title="Screenshot 2026-05-11 at 11.27.06 PM.png"/>
          <p:cNvPicPr preferRelativeResize="0"/>
          <p:nvPr/>
        </p:nvPicPr>
        <p:blipFill>
          <a:blip r:embed="rId3">
            <a:alphaModFix/>
          </a:blip>
          <a:stretch>
            <a:fillRect/>
          </a:stretch>
        </p:blipFill>
        <p:spPr>
          <a:xfrm>
            <a:off x="0" y="3691378"/>
            <a:ext cx="9144000" cy="136109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C"/>
        </a:solidFill>
      </p:bgPr>
    </p:bg>
    <p:spTree>
      <p:nvGrpSpPr>
        <p:cNvPr id="127" name="Shape 127"/>
        <p:cNvGrpSpPr/>
        <p:nvPr/>
      </p:nvGrpSpPr>
      <p:grpSpPr>
        <a:xfrm>
          <a:off x="0" y="0"/>
          <a:ext cx="0" cy="0"/>
          <a:chOff x="0" y="0"/>
          <a:chExt cx="0" cy="0"/>
        </a:xfrm>
      </p:grpSpPr>
      <p:sp>
        <p:nvSpPr>
          <p:cNvPr id="128" name="Google Shape;128;p8"/>
          <p:cNvSpPr/>
          <p:nvPr/>
        </p:nvSpPr>
        <p:spPr>
          <a:xfrm>
            <a:off x="0" y="0"/>
            <a:ext cx="9144000" cy="658368"/>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320040" y="0"/>
            <a:ext cx="85039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Graph 1 </a:t>
            </a:r>
            <a:r>
              <a:rPr b="1" lang="en-US" sz="2000">
                <a:solidFill>
                  <a:srgbClr val="FFFFFF"/>
                </a:solidFill>
                <a:latin typeface="Calibri"/>
                <a:ea typeface="Calibri"/>
                <a:cs typeface="Calibri"/>
                <a:sym typeface="Calibri"/>
              </a:rPr>
              <a:t>→ Answering Research Question 2</a:t>
            </a:r>
            <a:endParaRPr b="0" i="0" sz="2000" u="none" cap="none" strike="noStrike">
              <a:solidFill>
                <a:schemeClr val="dk1"/>
              </a:solidFill>
              <a:latin typeface="Calibri"/>
              <a:ea typeface="Calibri"/>
              <a:cs typeface="Calibri"/>
              <a:sym typeface="Calibri"/>
            </a:endParaRPr>
          </a:p>
        </p:txBody>
      </p:sp>
      <p:pic>
        <p:nvPicPr>
          <p:cNvPr id="130" name="Google Shape;130;p8" title="Population_vs_Income.png"/>
          <p:cNvPicPr preferRelativeResize="0"/>
          <p:nvPr/>
        </p:nvPicPr>
        <p:blipFill>
          <a:blip r:embed="rId3">
            <a:alphaModFix/>
          </a:blip>
          <a:stretch>
            <a:fillRect/>
          </a:stretch>
        </p:blipFill>
        <p:spPr>
          <a:xfrm>
            <a:off x="4994027" y="1024600"/>
            <a:ext cx="3610337" cy="3545101"/>
          </a:xfrm>
          <a:prstGeom prst="rect">
            <a:avLst/>
          </a:prstGeom>
          <a:noFill/>
          <a:ln>
            <a:noFill/>
          </a:ln>
        </p:spPr>
      </p:pic>
      <p:sp>
        <p:nvSpPr>
          <p:cNvPr id="131" name="Google Shape;131;p8"/>
          <p:cNvSpPr/>
          <p:nvPr/>
        </p:nvSpPr>
        <p:spPr>
          <a:xfrm>
            <a:off x="498525" y="1140700"/>
            <a:ext cx="3429000" cy="3098400"/>
          </a:xfrm>
          <a:prstGeom prst="roundRect">
            <a:avLst>
              <a:gd fmla="val 2222" name="adj"/>
            </a:avLst>
          </a:prstGeom>
          <a:solidFill>
            <a:srgbClr val="FFFFFF"/>
          </a:solidFill>
          <a:ln cap="flat" cmpd="sng" w="9525">
            <a:solidFill>
              <a:srgbClr val="D6E4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8"/>
          <p:cNvSpPr txBox="1"/>
          <p:nvPr/>
        </p:nvSpPr>
        <p:spPr>
          <a:xfrm>
            <a:off x="650925" y="1283575"/>
            <a:ext cx="3124200" cy="2833200"/>
          </a:xfrm>
          <a:prstGeom prst="rect">
            <a:avLst/>
          </a:prstGeom>
          <a:noFill/>
          <a:ln>
            <a:noFill/>
          </a:ln>
        </p:spPr>
        <p:txBody>
          <a:bodyPr anchorCtr="0" anchor="t" bIns="0" lIns="0" spcFirstLastPara="1" rIns="0" wrap="square" tIns="0">
            <a:normAutofit/>
          </a:bodyPr>
          <a:lstStyle/>
          <a:p>
            <a:pPr indent="0" lvl="0" marL="0" rtl="0" algn="l">
              <a:spcBef>
                <a:spcPts val="375"/>
              </a:spcBef>
              <a:spcAft>
                <a:spcPts val="0"/>
              </a:spcAft>
              <a:buNone/>
            </a:pPr>
            <a:r>
              <a:rPr b="1" lang="en-US" sz="1100">
                <a:solidFill>
                  <a:srgbClr val="674EA7"/>
                </a:solidFill>
              </a:rPr>
              <a:t>T</a:t>
            </a:r>
            <a:r>
              <a:rPr b="1" lang="en-US" sz="1200">
                <a:solidFill>
                  <a:srgbClr val="674EA7"/>
                </a:solidFill>
                <a:latin typeface="Calibri"/>
                <a:ea typeface="Calibri"/>
                <a:cs typeface="Calibri"/>
                <a:sym typeface="Calibri"/>
              </a:rPr>
              <a:t>he Finding:</a:t>
            </a:r>
            <a:r>
              <a:rPr lang="en-US" sz="1200">
                <a:solidFill>
                  <a:srgbClr val="674EA7"/>
                </a:solidFill>
                <a:latin typeface="Calibri"/>
                <a:ea typeface="Calibri"/>
                <a:cs typeface="Calibri"/>
                <a:sym typeface="Calibri"/>
              </a:rPr>
              <a:t> </a:t>
            </a:r>
            <a:r>
              <a:rPr lang="en-US" sz="1200">
                <a:solidFill>
                  <a:schemeClr val="dk1"/>
                </a:solidFill>
                <a:latin typeface="Calibri"/>
                <a:ea typeface="Calibri"/>
                <a:cs typeface="Calibri"/>
                <a:sym typeface="Calibri"/>
              </a:rPr>
              <a:t>While the trend points upward, the massive variance and wide confidence band prove population is an unreliable predictor of wealth.</a:t>
            </a:r>
            <a:endParaRPr sz="1200">
              <a:solidFill>
                <a:schemeClr val="dk1"/>
              </a:solidFill>
              <a:latin typeface="Calibri"/>
              <a:ea typeface="Calibri"/>
              <a:cs typeface="Calibri"/>
              <a:sym typeface="Calibri"/>
            </a:endParaRPr>
          </a:p>
          <a:p>
            <a:pPr indent="0" lvl="0" marL="0" rtl="0" algn="l">
              <a:spcBef>
                <a:spcPts val="375"/>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375"/>
              </a:spcBef>
              <a:spcAft>
                <a:spcPts val="0"/>
              </a:spcAft>
              <a:buNone/>
            </a:pPr>
            <a:r>
              <a:rPr b="1" lang="en-US" sz="1200">
                <a:solidFill>
                  <a:srgbClr val="674EA7"/>
                </a:solidFill>
                <a:latin typeface="Calibri"/>
                <a:ea typeface="Calibri"/>
                <a:cs typeface="Calibri"/>
                <a:sym typeface="Calibri"/>
              </a:rPr>
              <a:t>The Variance:</a:t>
            </a:r>
            <a:r>
              <a:rPr lang="en-US" sz="1200">
                <a:solidFill>
                  <a:srgbClr val="674EA7"/>
                </a:solidFill>
                <a:latin typeface="Calibri"/>
                <a:ea typeface="Calibri"/>
                <a:cs typeface="Calibri"/>
                <a:sym typeface="Calibri"/>
              </a:rPr>
              <a:t> </a:t>
            </a:r>
            <a:r>
              <a:rPr lang="en-US" sz="1200">
                <a:solidFill>
                  <a:schemeClr val="dk1"/>
                </a:solidFill>
                <a:latin typeface="Calibri"/>
                <a:ea typeface="Calibri"/>
                <a:cs typeface="Calibri"/>
                <a:sym typeface="Calibri"/>
              </a:rPr>
              <a:t>A massive cluster of small-to-mid-sized cities (under 2.5M) swing wildly in income, proving you do not need a mega-city to hit a six-figure paycheck.</a:t>
            </a:r>
            <a:endParaRPr sz="1200">
              <a:solidFill>
                <a:schemeClr val="dk1"/>
              </a:solidFill>
              <a:latin typeface="Calibri"/>
              <a:ea typeface="Calibri"/>
              <a:cs typeface="Calibri"/>
              <a:sym typeface="Calibri"/>
            </a:endParaRPr>
          </a:p>
          <a:p>
            <a:pPr indent="0" lvl="0" marL="0" rtl="0" algn="l">
              <a:spcBef>
                <a:spcPts val="375"/>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375"/>
              </a:spcBef>
              <a:spcAft>
                <a:spcPts val="0"/>
              </a:spcAft>
              <a:buClr>
                <a:schemeClr val="dk1"/>
              </a:buClr>
              <a:buSzPts val="1100"/>
              <a:buFont typeface="Arial"/>
              <a:buNone/>
            </a:pPr>
            <a:r>
              <a:rPr b="1" lang="en-US" sz="1200">
                <a:solidFill>
                  <a:srgbClr val="674EA7"/>
                </a:solidFill>
                <a:latin typeface="Calibri"/>
                <a:ea typeface="Calibri"/>
                <a:cs typeface="Calibri"/>
                <a:sym typeface="Calibri"/>
              </a:rPr>
              <a:t>The Outlier:</a:t>
            </a:r>
            <a:r>
              <a:rPr lang="en-US" sz="1200">
                <a:solidFill>
                  <a:schemeClr val="dk1"/>
                </a:solidFill>
                <a:latin typeface="Calibri"/>
                <a:ea typeface="Calibri"/>
                <a:cs typeface="Calibri"/>
                <a:sym typeface="Calibri"/>
              </a:rPr>
              <a:t> The 20M outlier (New York) has high nominal pay, but is matched or beaten by dozens of much smaller cities.</a:t>
            </a:r>
            <a:endParaRPr sz="1200">
              <a:solidFill>
                <a:schemeClr val="dk1"/>
              </a:solidFill>
              <a:latin typeface="Calibri"/>
              <a:ea typeface="Calibri"/>
              <a:cs typeface="Calibri"/>
              <a:sym typeface="Calibri"/>
            </a:endParaRPr>
          </a:p>
          <a:p>
            <a:pPr indent="0" lvl="0" marL="0" rtl="0" algn="l">
              <a:spcBef>
                <a:spcPts val="375"/>
              </a:spcBef>
              <a:spcAft>
                <a:spcPts val="0"/>
              </a:spcAft>
              <a:buNone/>
            </a:pPr>
            <a:r>
              <a:t/>
            </a:r>
            <a:endParaRPr b="1" sz="1480">
              <a:solidFill>
                <a:srgbClr val="1E276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p9"/>
          <p:cNvSpPr/>
          <p:nvPr/>
        </p:nvSpPr>
        <p:spPr>
          <a:xfrm>
            <a:off x="0" y="0"/>
            <a:ext cx="9144000" cy="6585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9"/>
          <p:cNvSpPr/>
          <p:nvPr/>
        </p:nvSpPr>
        <p:spPr>
          <a:xfrm>
            <a:off x="320040" y="0"/>
            <a:ext cx="8503800" cy="658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FFFFFF"/>
                </a:solidFill>
                <a:latin typeface="Calibri"/>
                <a:ea typeface="Calibri"/>
                <a:cs typeface="Calibri"/>
                <a:sym typeface="Calibri"/>
              </a:rPr>
              <a:t>Graph 2 →</a:t>
            </a:r>
            <a:r>
              <a:rPr b="1" lang="en-US" sz="2000">
                <a:solidFill>
                  <a:srgbClr val="FFFFFF"/>
                </a:solidFill>
                <a:latin typeface="Calibri"/>
                <a:ea typeface="Calibri"/>
                <a:cs typeface="Calibri"/>
                <a:sym typeface="Calibri"/>
              </a:rPr>
              <a:t> Answering Research Question 3</a:t>
            </a:r>
            <a:endParaRPr b="1" sz="2000">
              <a:solidFill>
                <a:srgbClr val="FFFFFF"/>
              </a:solidFill>
              <a:latin typeface="Calibri"/>
              <a:ea typeface="Calibri"/>
              <a:cs typeface="Calibri"/>
              <a:sym typeface="Calibri"/>
            </a:endParaRPr>
          </a:p>
        </p:txBody>
      </p:sp>
      <p:sp>
        <p:nvSpPr>
          <p:cNvPr id="140" name="Google Shape;140;p9"/>
          <p:cNvSpPr/>
          <p:nvPr/>
        </p:nvSpPr>
        <p:spPr>
          <a:xfrm>
            <a:off x="247450" y="1207013"/>
            <a:ext cx="3429000" cy="2882700"/>
          </a:xfrm>
          <a:prstGeom prst="roundRect">
            <a:avLst>
              <a:gd fmla="val 2222" name="adj"/>
            </a:avLst>
          </a:prstGeom>
          <a:solidFill>
            <a:srgbClr val="FFFFFF"/>
          </a:solidFill>
          <a:ln cap="flat" cmpd="sng" w="9525">
            <a:solidFill>
              <a:srgbClr val="D6E4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1" name="Google Shape;141;p9"/>
          <p:cNvPicPr preferRelativeResize="0"/>
          <p:nvPr/>
        </p:nvPicPr>
        <p:blipFill rotWithShape="1">
          <a:blip r:embed="rId4">
            <a:alphaModFix/>
          </a:blip>
          <a:srcRect b="0" l="0" r="0" t="0"/>
          <a:stretch/>
        </p:blipFill>
        <p:spPr>
          <a:xfrm>
            <a:off x="4548367" y="857250"/>
            <a:ext cx="4059600" cy="3985800"/>
          </a:xfrm>
          <a:prstGeom prst="rect">
            <a:avLst/>
          </a:prstGeom>
          <a:noFill/>
          <a:ln>
            <a:noFill/>
          </a:ln>
        </p:spPr>
      </p:pic>
      <p:sp>
        <p:nvSpPr>
          <p:cNvPr id="142" name="Google Shape;142;p9"/>
          <p:cNvSpPr txBox="1"/>
          <p:nvPr/>
        </p:nvSpPr>
        <p:spPr>
          <a:xfrm>
            <a:off x="390430" y="1349888"/>
            <a:ext cx="3124200" cy="3143400"/>
          </a:xfrm>
          <a:prstGeom prst="rect">
            <a:avLst/>
          </a:prstGeom>
          <a:noFill/>
          <a:ln>
            <a:noFill/>
          </a:ln>
        </p:spPr>
        <p:txBody>
          <a:bodyPr anchorCtr="0" anchor="t" bIns="0" lIns="0" spcFirstLastPara="1" rIns="0" wrap="square" tIns="0">
            <a:noAutofit/>
          </a:bodyPr>
          <a:lstStyle/>
          <a:p>
            <a:pPr indent="0" lvl="0" marL="0" rtl="0" algn="l">
              <a:spcBef>
                <a:spcPts val="375"/>
              </a:spcBef>
              <a:spcAft>
                <a:spcPts val="0"/>
              </a:spcAft>
              <a:buClr>
                <a:schemeClr val="dk1"/>
              </a:buClr>
              <a:buSzPts val="1100"/>
              <a:buFont typeface="Arial"/>
              <a:buNone/>
            </a:pPr>
            <a:r>
              <a:rPr b="1" lang="en-US" sz="1200">
                <a:solidFill>
                  <a:srgbClr val="1A7A4A"/>
                </a:solidFill>
                <a:latin typeface="Calibri"/>
                <a:ea typeface="Calibri"/>
                <a:cs typeface="Calibri"/>
                <a:sym typeface="Calibri"/>
              </a:rPr>
              <a:t>The Slope:</a:t>
            </a:r>
            <a:r>
              <a:rPr lang="en-US" sz="1200">
                <a:solidFill>
                  <a:schemeClr val="dk1"/>
                </a:solidFill>
                <a:latin typeface="Calibri"/>
                <a:ea typeface="Calibri"/>
                <a:cs typeface="Calibri"/>
                <a:sym typeface="Calibri"/>
              </a:rPr>
              <a:t> The steep regression line reveals a massive $35,000 swing in real purchasing power between the least and most educated cities.</a:t>
            </a:r>
            <a:endParaRPr sz="1200">
              <a:solidFill>
                <a:schemeClr val="dk1"/>
              </a:solidFill>
              <a:latin typeface="Calibri"/>
              <a:ea typeface="Calibri"/>
              <a:cs typeface="Calibri"/>
              <a:sym typeface="Calibri"/>
            </a:endParaRPr>
          </a:p>
          <a:p>
            <a:pPr indent="0" lvl="0" marL="0" rtl="0" algn="l">
              <a:spcBef>
                <a:spcPts val="1875"/>
              </a:spcBef>
              <a:spcAft>
                <a:spcPts val="0"/>
              </a:spcAft>
              <a:buNone/>
            </a:pPr>
            <a:r>
              <a:rPr b="1" lang="en-US" sz="1200">
                <a:solidFill>
                  <a:srgbClr val="1A7A4A"/>
                </a:solidFill>
                <a:latin typeface="Calibri"/>
                <a:ea typeface="Calibri"/>
                <a:cs typeface="Calibri"/>
                <a:sym typeface="Calibri"/>
              </a:rPr>
              <a:t>The Reliability:</a:t>
            </a:r>
            <a:r>
              <a:rPr lang="en-US" sz="1200">
                <a:solidFill>
                  <a:srgbClr val="1A7A4A"/>
                </a:solidFill>
                <a:latin typeface="Calibri"/>
                <a:ea typeface="Calibri"/>
                <a:cs typeface="Calibri"/>
                <a:sym typeface="Calibri"/>
              </a:rPr>
              <a:t> </a:t>
            </a:r>
            <a:r>
              <a:rPr lang="en-US" sz="1200">
                <a:solidFill>
                  <a:schemeClr val="dk1"/>
                </a:solidFill>
                <a:latin typeface="Calibri"/>
                <a:ea typeface="Calibri"/>
                <a:cs typeface="Calibri"/>
                <a:sym typeface="Calibri"/>
              </a:rPr>
              <a:t>The tight confidence band across all 379 cities confirms that human capital is a remarkably consistent and precise predictor of wealth.</a:t>
            </a:r>
            <a:endParaRPr sz="1200">
              <a:solidFill>
                <a:schemeClr val="dk1"/>
              </a:solidFill>
              <a:latin typeface="Calibri"/>
              <a:ea typeface="Calibri"/>
              <a:cs typeface="Calibri"/>
              <a:sym typeface="Calibri"/>
            </a:endParaRPr>
          </a:p>
          <a:p>
            <a:pPr indent="0" lvl="0" marL="0" rtl="0" algn="l">
              <a:spcBef>
                <a:spcPts val="1875"/>
              </a:spcBef>
              <a:spcAft>
                <a:spcPts val="1875"/>
              </a:spcAft>
              <a:buNone/>
            </a:pPr>
            <a:r>
              <a:rPr b="1" lang="en-US" sz="1200">
                <a:solidFill>
                  <a:srgbClr val="1A7A4A"/>
                </a:solidFill>
                <a:latin typeface="Calibri"/>
                <a:ea typeface="Calibri"/>
                <a:cs typeface="Calibri"/>
                <a:sym typeface="Calibri"/>
              </a:rPr>
              <a:t>The </a:t>
            </a:r>
            <a:r>
              <a:rPr b="1" lang="en-US" sz="1200">
                <a:solidFill>
                  <a:srgbClr val="1A7A4A"/>
                </a:solidFill>
                <a:latin typeface="Calibri"/>
                <a:ea typeface="Calibri"/>
                <a:cs typeface="Calibri"/>
                <a:sym typeface="Calibri"/>
              </a:rPr>
              <a:t>Outliers: </a:t>
            </a:r>
            <a:r>
              <a:rPr lang="en-US" sz="1200">
                <a:solidFill>
                  <a:srgbClr val="2D3748"/>
                </a:solidFill>
                <a:latin typeface="Calibri"/>
                <a:ea typeface="Calibri"/>
                <a:cs typeface="Calibri"/>
                <a:sym typeface="Calibri"/>
              </a:rPr>
              <a:t>Most cities are clustered at lower rates. Cities at 0.30+ education rates are potential outliers</a:t>
            </a:r>
            <a:endParaRPr sz="1200">
              <a:solidFill>
                <a:srgbClr val="2D3748"/>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id="148" name="Google Shape;148;p10"/>
          <p:cNvSpPr/>
          <p:nvPr/>
        </p:nvSpPr>
        <p:spPr>
          <a:xfrm>
            <a:off x="0" y="0"/>
            <a:ext cx="9144000" cy="65850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0"/>
          <p:cNvSpPr/>
          <p:nvPr/>
        </p:nvSpPr>
        <p:spPr>
          <a:xfrm>
            <a:off x="320040" y="0"/>
            <a:ext cx="85038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Regression Results </a:t>
            </a:r>
            <a:endParaRPr b="0" i="0" sz="2000" u="none" cap="none" strike="noStrike">
              <a:solidFill>
                <a:schemeClr val="dk1"/>
              </a:solidFill>
              <a:latin typeface="Calibri"/>
              <a:ea typeface="Calibri"/>
              <a:cs typeface="Calibri"/>
              <a:sym typeface="Calibri"/>
            </a:endParaRPr>
          </a:p>
        </p:txBody>
      </p:sp>
      <p:grpSp>
        <p:nvGrpSpPr>
          <p:cNvPr id="150" name="Google Shape;150;p10"/>
          <p:cNvGrpSpPr/>
          <p:nvPr/>
        </p:nvGrpSpPr>
        <p:grpSpPr>
          <a:xfrm>
            <a:off x="238125" y="952500"/>
            <a:ext cx="8449050" cy="3619500"/>
            <a:chOff x="238125" y="952500"/>
            <a:chExt cx="8449050" cy="3619500"/>
          </a:xfrm>
        </p:grpSpPr>
        <p:sp>
          <p:nvSpPr>
            <p:cNvPr id="151" name="Google Shape;151;p10"/>
            <p:cNvSpPr/>
            <p:nvPr/>
          </p:nvSpPr>
          <p:spPr>
            <a:xfrm>
              <a:off x="238125" y="952500"/>
              <a:ext cx="4667400" cy="3619500"/>
            </a:xfrm>
            <a:prstGeom prst="roundRect">
              <a:avLst>
                <a:gd fmla="val 2105" name="adj"/>
              </a:avLst>
            </a:prstGeom>
            <a:solidFill>
              <a:srgbClr val="FFFFFF"/>
            </a:solidFill>
            <a:ln cap="flat" cmpd="sng" w="9525">
              <a:solidFill>
                <a:srgbClr val="D6E4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2" name="Google Shape;152;p10"/>
            <p:cNvPicPr preferRelativeResize="0"/>
            <p:nvPr/>
          </p:nvPicPr>
          <p:blipFill rotWithShape="1">
            <a:blip r:embed="rId4">
              <a:alphaModFix/>
            </a:blip>
            <a:srcRect b="-10" l="0" r="0" t="10"/>
            <a:stretch/>
          </p:blipFill>
          <p:spPr>
            <a:xfrm>
              <a:off x="428625" y="1095375"/>
              <a:ext cx="4286400" cy="3029700"/>
            </a:xfrm>
            <a:prstGeom prst="rect">
              <a:avLst/>
            </a:prstGeom>
            <a:noFill/>
            <a:ln>
              <a:noFill/>
            </a:ln>
          </p:spPr>
        </p:pic>
        <p:sp>
          <p:nvSpPr>
            <p:cNvPr id="153" name="Google Shape;153;p10"/>
            <p:cNvSpPr/>
            <p:nvPr/>
          </p:nvSpPr>
          <p:spPr>
            <a:xfrm>
              <a:off x="3476625" y="1352550"/>
              <a:ext cx="1104900" cy="304800"/>
            </a:xfrm>
            <a:prstGeom prst="rect">
              <a:avLst/>
            </a:prstGeom>
            <a:solidFill>
              <a:srgbClr val="000000">
                <a:alpha val="0"/>
              </a:srgbClr>
            </a:solidFill>
            <a:ln cap="flat" cmpd="sng" w="19050">
              <a:solidFill>
                <a:srgbClr val="E53E3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0"/>
            <p:cNvSpPr/>
            <p:nvPr/>
          </p:nvSpPr>
          <p:spPr>
            <a:xfrm>
              <a:off x="5067675" y="1510350"/>
              <a:ext cx="3619500" cy="2503800"/>
            </a:xfrm>
            <a:prstGeom prst="roundRect">
              <a:avLst>
                <a:gd fmla="val 2105" name="adj"/>
              </a:avLst>
            </a:prstGeom>
            <a:solidFill>
              <a:srgbClr val="FFFFFF"/>
            </a:solidFill>
            <a:ln cap="flat" cmpd="sng" w="9525">
              <a:solidFill>
                <a:srgbClr val="1A7A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0"/>
            <p:cNvSpPr txBox="1"/>
            <p:nvPr/>
          </p:nvSpPr>
          <p:spPr>
            <a:xfrm>
              <a:off x="5258175" y="1696200"/>
              <a:ext cx="3238500" cy="213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A7A4A"/>
                  </a:solidFill>
                  <a:latin typeface="Calibri"/>
                  <a:ea typeface="Calibri"/>
                  <a:cs typeface="Calibri"/>
                  <a:sym typeface="Calibri"/>
                </a:rPr>
                <a:t>Preferred Model- 3</a:t>
              </a:r>
              <a:endParaRPr b="1" sz="1600">
                <a:solidFill>
                  <a:srgbClr val="1A7A4A"/>
                </a:solidFill>
                <a:latin typeface="Calibri"/>
                <a:ea typeface="Calibri"/>
                <a:cs typeface="Calibri"/>
                <a:sym typeface="Calibri"/>
              </a:endParaRPr>
            </a:p>
            <a:p>
              <a:pPr indent="0" lvl="0" marL="0" rtl="0" algn="l">
                <a:spcBef>
                  <a:spcPts val="1125"/>
                </a:spcBef>
                <a:spcAft>
                  <a:spcPts val="0"/>
                </a:spcAft>
                <a:buNone/>
              </a:pPr>
              <a:r>
                <a:rPr b="1" lang="en-US" sz="1300">
                  <a:solidFill>
                    <a:srgbClr val="2D3748"/>
                  </a:solidFill>
                  <a:latin typeface="Calibri"/>
                  <a:ea typeface="Calibri"/>
                  <a:cs typeface="Calibri"/>
                  <a:sym typeface="Calibri"/>
                </a:rPr>
                <a:t>Key Interpretation:</a:t>
              </a:r>
              <a:endParaRPr b="1" sz="1300">
                <a:solidFill>
                  <a:srgbClr val="2D3748"/>
                </a:solidFill>
                <a:latin typeface="Calibri"/>
                <a:ea typeface="Calibri"/>
                <a:cs typeface="Calibri"/>
                <a:sym typeface="Calibri"/>
              </a:endParaRPr>
            </a:p>
            <a:p>
              <a:pPr indent="0" lvl="0" marL="0" rtl="0" algn="l">
                <a:spcBef>
                  <a:spcPts val="750"/>
                </a:spcBef>
                <a:spcAft>
                  <a:spcPts val="0"/>
                </a:spcAft>
                <a:buNone/>
              </a:pPr>
              <a:r>
                <a:rPr lang="en-US" sz="1150">
                  <a:solidFill>
                    <a:srgbClr val="4A5568"/>
                  </a:solidFill>
                  <a:latin typeface="Calibri"/>
                  <a:ea typeface="Calibri"/>
                  <a:cs typeface="Calibri"/>
                  <a:sym typeface="Calibri"/>
                </a:rPr>
                <a:t>Education Rate coefficient of 98,763 means a 0.01 rise in college-degree share is associated with a </a:t>
              </a:r>
              <a:r>
                <a:rPr b="1" lang="en-US" sz="1150">
                  <a:solidFill>
                    <a:srgbClr val="1E2761"/>
                  </a:solidFill>
                  <a:latin typeface="Calibri"/>
                  <a:ea typeface="Calibri"/>
                  <a:cs typeface="Calibri"/>
                  <a:sym typeface="Calibri"/>
                </a:rPr>
                <a:t>+$987 increase in Real Purchasing Power</a:t>
              </a:r>
              <a:r>
                <a:rPr lang="en-US" sz="1150">
                  <a:solidFill>
                    <a:srgbClr val="4A5568"/>
                  </a:solidFill>
                  <a:latin typeface="Calibri"/>
                  <a:ea typeface="Calibri"/>
                  <a:cs typeface="Calibri"/>
                  <a:sym typeface="Calibri"/>
                </a:rPr>
                <a:t>.</a:t>
              </a:r>
              <a:endParaRPr sz="1150">
                <a:solidFill>
                  <a:srgbClr val="4A5568"/>
                </a:solidFill>
                <a:latin typeface="Calibri"/>
                <a:ea typeface="Calibri"/>
                <a:cs typeface="Calibri"/>
                <a:sym typeface="Calibri"/>
              </a:endParaRPr>
            </a:p>
            <a:p>
              <a:pPr indent="0" lvl="0" marL="0" rtl="0" algn="l">
                <a:spcBef>
                  <a:spcPts val="1125"/>
                </a:spcBef>
                <a:spcAft>
                  <a:spcPts val="0"/>
                </a:spcAft>
                <a:buNone/>
              </a:pPr>
              <a:r>
                <a:rPr b="1" lang="en-US" sz="1100">
                  <a:solidFill>
                    <a:srgbClr val="2D3748"/>
                  </a:solidFill>
                  <a:latin typeface="Calibri"/>
                  <a:ea typeface="Calibri"/>
                  <a:cs typeface="Calibri"/>
                  <a:sym typeface="Calibri"/>
                </a:rPr>
                <a:t>The Real Wage Trap</a:t>
              </a:r>
              <a:endParaRPr b="1" sz="1100">
                <a:solidFill>
                  <a:srgbClr val="2D3748"/>
                </a:solidFill>
                <a:latin typeface="Calibri"/>
                <a:ea typeface="Calibri"/>
                <a:cs typeface="Calibri"/>
                <a:sym typeface="Calibri"/>
              </a:endParaRPr>
            </a:p>
            <a:p>
              <a:pPr indent="0" lvl="0" marL="0" rtl="0" algn="l">
                <a:spcBef>
                  <a:spcPts val="0"/>
                </a:spcBef>
                <a:spcAft>
                  <a:spcPts val="0"/>
                </a:spcAft>
                <a:buNone/>
              </a:pPr>
              <a:r>
                <a:rPr lang="en-US" sz="1050">
                  <a:solidFill>
                    <a:srgbClr val="4A5568"/>
                  </a:solidFill>
                  <a:latin typeface="Calibri"/>
                  <a:ea typeface="Calibri"/>
                  <a:cs typeface="Calibri"/>
                  <a:sym typeface="Calibri"/>
                </a:rPr>
                <a:t>RPP effect is larger in expensive cities (+1.9% vs +1.6%), confirming that high costs consume nominal gains.</a:t>
              </a:r>
              <a:endParaRPr sz="1050">
                <a:solidFill>
                  <a:srgbClr val="4A5568"/>
                </a:solidFill>
                <a:latin typeface="Calibri"/>
                <a:ea typeface="Calibri"/>
                <a:cs typeface="Calibri"/>
                <a:sym typeface="Calibri"/>
              </a:endParaRPr>
            </a:p>
            <a:p>
              <a:pPr indent="0" lvl="0" marL="0" rtl="0" algn="l">
                <a:spcBef>
                  <a:spcPts val="1500"/>
                </a:spcBef>
                <a:spcAft>
                  <a:spcPts val="0"/>
                </a:spcAft>
                <a:buNone/>
              </a:pPr>
              <a:r>
                <a:t/>
              </a:r>
              <a:endParaRPr i="1" sz="900">
                <a:solidFill>
                  <a:srgbClr val="718096"/>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 name="Shape 160"/>
        <p:cNvGrpSpPr/>
        <p:nvPr/>
      </p:nvGrpSpPr>
      <p:grpSpPr>
        <a:xfrm>
          <a:off x="0" y="0"/>
          <a:ext cx="0" cy="0"/>
          <a:chOff x="0" y="0"/>
          <a:chExt cx="0" cy="0"/>
        </a:xfrm>
      </p:grpSpPr>
      <p:sp>
        <p:nvSpPr>
          <p:cNvPr id="161" name="Google Shape;161;p11"/>
          <p:cNvSpPr/>
          <p:nvPr/>
        </p:nvSpPr>
        <p:spPr>
          <a:xfrm>
            <a:off x="0" y="0"/>
            <a:ext cx="9144000" cy="657300"/>
          </a:xfrm>
          <a:prstGeom prst="rect">
            <a:avLst/>
          </a:prstGeom>
          <a:solidFill>
            <a:srgbClr val="1E276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1"/>
          <p:cNvSpPr/>
          <p:nvPr/>
        </p:nvSpPr>
        <p:spPr>
          <a:xfrm>
            <a:off x="457200" y="0"/>
            <a:ext cx="8229600" cy="657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US" sz="2400">
                <a:solidFill>
                  <a:srgbClr val="FFFFFF"/>
                </a:solidFill>
                <a:latin typeface="Calibri"/>
                <a:ea typeface="Calibri"/>
                <a:cs typeface="Calibri"/>
                <a:sym typeface="Calibri"/>
              </a:rPr>
              <a:t>Conclusions</a:t>
            </a:r>
            <a:endParaRPr b="1" i="0" sz="2400">
              <a:solidFill>
                <a:srgbClr val="FFFFFF"/>
              </a:solidFill>
              <a:latin typeface="Calibri"/>
              <a:ea typeface="Calibri"/>
              <a:cs typeface="Calibri"/>
              <a:sym typeface="Calibri"/>
            </a:endParaRPr>
          </a:p>
        </p:txBody>
      </p:sp>
      <p:grpSp>
        <p:nvGrpSpPr>
          <p:cNvPr id="163" name="Google Shape;163;p11"/>
          <p:cNvGrpSpPr/>
          <p:nvPr/>
        </p:nvGrpSpPr>
        <p:grpSpPr>
          <a:xfrm>
            <a:off x="333375" y="1678595"/>
            <a:ext cx="2667000" cy="1786357"/>
            <a:chOff x="333375" y="857250"/>
            <a:chExt cx="2667000" cy="3238500"/>
          </a:xfrm>
        </p:grpSpPr>
        <p:sp>
          <p:nvSpPr>
            <p:cNvPr id="164" name="Google Shape;164;p11"/>
            <p:cNvSpPr/>
            <p:nvPr/>
          </p:nvSpPr>
          <p:spPr>
            <a:xfrm>
              <a:off x="333375" y="857250"/>
              <a:ext cx="2667000" cy="3238500"/>
            </a:xfrm>
            <a:prstGeom prst="roundRect">
              <a:avLst>
                <a:gd fmla="val 2857" name="adj"/>
              </a:avLst>
            </a:prstGeom>
            <a:solidFill>
              <a:srgbClr val="FFFFFF"/>
            </a:solidFill>
            <a:ln cap="flat" cmpd="sng" w="9525">
              <a:solidFill>
                <a:srgbClr val="D6E4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1"/>
            <p:cNvSpPr/>
            <p:nvPr/>
          </p:nvSpPr>
          <p:spPr>
            <a:xfrm>
              <a:off x="333375" y="857250"/>
              <a:ext cx="2667000" cy="38100"/>
            </a:xfrm>
            <a:prstGeom prst="roundRect">
              <a:avLst>
                <a:gd fmla="val 50000" name="adj"/>
              </a:avLst>
            </a:prstGeom>
            <a:solidFill>
              <a:srgbClr val="1E276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1"/>
            <p:cNvSpPr txBox="1"/>
            <p:nvPr/>
          </p:nvSpPr>
          <p:spPr>
            <a:xfrm>
              <a:off x="428625" y="1000125"/>
              <a:ext cx="2476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2761"/>
                  </a:solidFill>
                  <a:latin typeface="Calibri"/>
                  <a:ea typeface="Calibri"/>
                  <a:cs typeface="Calibri"/>
                  <a:sym typeface="Calibri"/>
                </a:rPr>
                <a:t>Q1: </a:t>
              </a:r>
              <a:r>
                <a:rPr b="1" lang="en-US" sz="1200">
                  <a:solidFill>
                    <a:srgbClr val="2D3748"/>
                  </a:solidFill>
                  <a:latin typeface="Calibri"/>
                  <a:ea typeface="Calibri"/>
                  <a:cs typeface="Calibri"/>
                  <a:sym typeface="Calibri"/>
                </a:rPr>
                <a:t>Cost of living raises nominal pay, but the gain is largely consumed by prices.</a:t>
              </a:r>
              <a:endParaRPr b="1" sz="1200">
                <a:solidFill>
                  <a:srgbClr val="2D3748"/>
                </a:solidFill>
                <a:latin typeface="Calibri"/>
                <a:ea typeface="Calibri"/>
                <a:cs typeface="Calibri"/>
                <a:sym typeface="Calibri"/>
              </a:endParaRPr>
            </a:p>
            <a:p>
              <a:pPr indent="0" lvl="0" marL="0" rtl="0" algn="l">
                <a:spcBef>
                  <a:spcPts val="900"/>
                </a:spcBef>
                <a:spcAft>
                  <a:spcPts val="0"/>
                </a:spcAft>
                <a:buNone/>
              </a:pPr>
              <a:r>
                <a:rPr b="0" lang="en-US" sz="1050">
                  <a:solidFill>
                    <a:srgbClr val="4A5568"/>
                  </a:solidFill>
                  <a:latin typeface="Calibri"/>
                  <a:ea typeface="Calibri"/>
                  <a:cs typeface="Calibri"/>
                  <a:sym typeface="Calibri"/>
                </a:rPr>
                <a:t>RPP is significantly positive in Models 1 &amp; 2. Its effect is larger in expensive metros (+1.87% vs +1.64%), confirming that salaries in high-cost areas must scale just to maintain a basic standard of living.</a:t>
              </a:r>
              <a:endParaRPr b="0" sz="1050">
                <a:solidFill>
                  <a:srgbClr val="4A5568"/>
                </a:solidFill>
                <a:latin typeface="Calibri"/>
                <a:ea typeface="Calibri"/>
                <a:cs typeface="Calibri"/>
                <a:sym typeface="Calibri"/>
              </a:endParaRPr>
            </a:p>
          </p:txBody>
        </p:sp>
      </p:grpSp>
      <p:grpSp>
        <p:nvGrpSpPr>
          <p:cNvPr id="167" name="Google Shape;167;p11"/>
          <p:cNvGrpSpPr/>
          <p:nvPr/>
        </p:nvGrpSpPr>
        <p:grpSpPr>
          <a:xfrm>
            <a:off x="3238500" y="1678595"/>
            <a:ext cx="2667000" cy="1786357"/>
            <a:chOff x="3238500" y="857250"/>
            <a:chExt cx="2667000" cy="3238500"/>
          </a:xfrm>
        </p:grpSpPr>
        <p:sp>
          <p:nvSpPr>
            <p:cNvPr id="168" name="Google Shape;168;p11"/>
            <p:cNvSpPr/>
            <p:nvPr/>
          </p:nvSpPr>
          <p:spPr>
            <a:xfrm>
              <a:off x="3238500" y="857250"/>
              <a:ext cx="2667000" cy="3238500"/>
            </a:xfrm>
            <a:prstGeom prst="roundRect">
              <a:avLst>
                <a:gd fmla="val 2857" name="adj"/>
              </a:avLst>
            </a:prstGeom>
            <a:solidFill>
              <a:srgbClr val="FFFFFF"/>
            </a:solidFill>
            <a:ln cap="flat" cmpd="sng" w="9525">
              <a:solidFill>
                <a:srgbClr val="D6E4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1"/>
            <p:cNvSpPr/>
            <p:nvPr/>
          </p:nvSpPr>
          <p:spPr>
            <a:xfrm>
              <a:off x="3238500" y="857250"/>
              <a:ext cx="2667000" cy="38100"/>
            </a:xfrm>
            <a:prstGeom prst="roundRect">
              <a:avLst>
                <a:gd fmla="val 50000" name="adj"/>
              </a:avLst>
            </a:prstGeom>
            <a:solidFill>
              <a:srgbClr val="1A7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1"/>
            <p:cNvSpPr txBox="1"/>
            <p:nvPr/>
          </p:nvSpPr>
          <p:spPr>
            <a:xfrm>
              <a:off x="3333750" y="1000125"/>
              <a:ext cx="2476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A7A4A"/>
                  </a:solidFill>
                  <a:latin typeface="Calibri"/>
                  <a:ea typeface="Calibri"/>
                  <a:cs typeface="Calibri"/>
                  <a:sym typeface="Calibri"/>
                </a:rPr>
                <a:t>Q2:</a:t>
              </a:r>
              <a:r>
                <a:rPr b="1" lang="en-US">
                  <a:solidFill>
                    <a:srgbClr val="1A7A4A"/>
                  </a:solidFill>
                  <a:latin typeface="Calibri"/>
                  <a:ea typeface="Calibri"/>
                  <a:cs typeface="Calibri"/>
                  <a:sym typeface="Calibri"/>
                </a:rPr>
                <a:t> </a:t>
              </a:r>
              <a:r>
                <a:rPr b="1" lang="en-US" sz="1200">
                  <a:solidFill>
                    <a:srgbClr val="2D3748"/>
                  </a:solidFill>
                  <a:latin typeface="Calibri"/>
                  <a:ea typeface="Calibri"/>
                  <a:cs typeface="Calibri"/>
                  <a:sym typeface="Calibri"/>
                </a:rPr>
                <a:t>Real wealth goes up a little with city size, but that's not the important point </a:t>
              </a:r>
              <a:endParaRPr b="1" sz="1200">
                <a:solidFill>
                  <a:srgbClr val="2D3748"/>
                </a:solidFill>
                <a:latin typeface="Calibri"/>
                <a:ea typeface="Calibri"/>
                <a:cs typeface="Calibri"/>
                <a:sym typeface="Calibri"/>
              </a:endParaRPr>
            </a:p>
            <a:p>
              <a:pPr indent="0" lvl="0" marL="0" rtl="0" algn="l">
                <a:spcBef>
                  <a:spcPts val="900"/>
                </a:spcBef>
                <a:spcAft>
                  <a:spcPts val="0"/>
                </a:spcAft>
                <a:buNone/>
              </a:pPr>
              <a:r>
                <a:rPr b="0" lang="en-US" sz="1050">
                  <a:solidFill>
                    <a:srgbClr val="4A5568"/>
                  </a:solidFill>
                  <a:latin typeface="Calibri"/>
                  <a:ea typeface="Calibri"/>
                  <a:cs typeface="Calibri"/>
                  <a:sym typeface="Calibri"/>
                </a:rPr>
                <a:t>Log Population is weakly significant in the preferred model (p = 0.02). NYC is a clear visual outlier; however, size alone does not explain wealth distribution across metros.</a:t>
              </a:r>
              <a:endParaRPr b="0" sz="1050">
                <a:solidFill>
                  <a:srgbClr val="4A5568"/>
                </a:solidFill>
                <a:latin typeface="Calibri"/>
                <a:ea typeface="Calibri"/>
                <a:cs typeface="Calibri"/>
                <a:sym typeface="Calibri"/>
              </a:endParaRPr>
            </a:p>
          </p:txBody>
        </p:sp>
      </p:grpSp>
      <p:grpSp>
        <p:nvGrpSpPr>
          <p:cNvPr id="171" name="Google Shape;171;p11"/>
          <p:cNvGrpSpPr/>
          <p:nvPr/>
        </p:nvGrpSpPr>
        <p:grpSpPr>
          <a:xfrm>
            <a:off x="6143625" y="1678562"/>
            <a:ext cx="2667000" cy="1786357"/>
            <a:chOff x="6143625" y="857250"/>
            <a:chExt cx="2667000" cy="3238500"/>
          </a:xfrm>
        </p:grpSpPr>
        <p:sp>
          <p:nvSpPr>
            <p:cNvPr id="172" name="Google Shape;172;p11"/>
            <p:cNvSpPr/>
            <p:nvPr/>
          </p:nvSpPr>
          <p:spPr>
            <a:xfrm>
              <a:off x="6143625" y="857250"/>
              <a:ext cx="2667000" cy="3238500"/>
            </a:xfrm>
            <a:prstGeom prst="roundRect">
              <a:avLst>
                <a:gd fmla="val 2857" name="adj"/>
              </a:avLst>
            </a:prstGeom>
            <a:solidFill>
              <a:srgbClr val="FFFFFF"/>
            </a:solidFill>
            <a:ln cap="flat" cmpd="sng" w="9525">
              <a:solidFill>
                <a:srgbClr val="D6E4F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1"/>
            <p:cNvSpPr/>
            <p:nvPr/>
          </p:nvSpPr>
          <p:spPr>
            <a:xfrm>
              <a:off x="6143625" y="857250"/>
              <a:ext cx="2667000" cy="38100"/>
            </a:xfrm>
            <a:prstGeom prst="roundRect">
              <a:avLst>
                <a:gd fmla="val 50000" name="adj"/>
              </a:avLst>
            </a:prstGeom>
            <a:solidFill>
              <a:srgbClr val="C0392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1"/>
            <p:cNvSpPr txBox="1"/>
            <p:nvPr/>
          </p:nvSpPr>
          <p:spPr>
            <a:xfrm>
              <a:off x="6238875" y="1000125"/>
              <a:ext cx="2476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C0392B"/>
                  </a:solidFill>
                  <a:latin typeface="Calibri"/>
                  <a:ea typeface="Calibri"/>
                  <a:cs typeface="Calibri"/>
                  <a:sym typeface="Calibri"/>
                </a:rPr>
                <a:t>Q3: </a:t>
              </a:r>
              <a:r>
                <a:rPr b="1" lang="en-US" sz="1200">
                  <a:solidFill>
                    <a:srgbClr val="2D3748"/>
                  </a:solidFill>
                  <a:latin typeface="Calibri"/>
                  <a:ea typeface="Calibri"/>
                  <a:cs typeface="Calibri"/>
                  <a:sym typeface="Calibri"/>
                </a:rPr>
                <a:t>Education is the primary driver. The big-city premium is an education premium.</a:t>
              </a:r>
              <a:endParaRPr b="1" sz="1200">
                <a:solidFill>
                  <a:srgbClr val="2D3748"/>
                </a:solidFill>
                <a:latin typeface="Calibri"/>
                <a:ea typeface="Calibri"/>
                <a:cs typeface="Calibri"/>
                <a:sym typeface="Calibri"/>
              </a:endParaRPr>
            </a:p>
            <a:p>
              <a:pPr indent="0" lvl="0" marL="0" rtl="0" algn="l">
                <a:spcBef>
                  <a:spcPts val="900"/>
                </a:spcBef>
                <a:spcAft>
                  <a:spcPts val="0"/>
                </a:spcAft>
                <a:buNone/>
              </a:pPr>
              <a:r>
                <a:rPr b="0" lang="en-US" sz="1050">
                  <a:solidFill>
                    <a:srgbClr val="4A5568"/>
                  </a:solidFill>
                  <a:latin typeface="Calibri"/>
                  <a:ea typeface="Calibri"/>
                  <a:cs typeface="Calibri"/>
                  <a:sym typeface="Calibri"/>
                </a:rPr>
                <a:t>Education Rate coeff = 98,763: a 0.01 rise in degree-share adds ~$987 in real purchasing power (p &lt; 0.001). Human capital is the most reliable predictor of regional wealth.</a:t>
              </a:r>
              <a:endParaRPr b="0" sz="1050">
                <a:solidFill>
                  <a:srgbClr val="4A5568"/>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